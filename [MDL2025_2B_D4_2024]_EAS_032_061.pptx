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arelia" charset="1" panose="00000500000000000000"/>
      <p:regular r:id="rId28"/>
    </p:embeddedFont>
    <p:embeddedFont>
      <p:font typeface="Muli Semi-Bold" charset="1" panose="00000700000000000000"/>
      <p:regular r:id="rId29"/>
    </p:embeddedFont>
    <p:embeddedFont>
      <p:font typeface="Muli Bold" charset="1" panose="000008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2.png" Type="http://schemas.openxmlformats.org/officeDocument/2006/relationships/image"/><Relationship Id="rId8" Target="../embeddings/oleObject1.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13" Target="../media/image19.png" Type="http://schemas.openxmlformats.org/officeDocument/2006/relationships/image"/><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13" Target="../media/image19.png" Type="http://schemas.openxmlformats.org/officeDocument/2006/relationships/image"/><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false" flipV="true" rot="0">
            <a:off x="-2926850" y="0"/>
            <a:ext cx="10721300" cy="11912555"/>
          </a:xfrm>
          <a:custGeom>
            <a:avLst/>
            <a:gdLst/>
            <a:ahLst/>
            <a:cxnLst/>
            <a:rect r="r" b="b" t="t" l="l"/>
            <a:pathLst>
              <a:path h="11912555" w="10721300">
                <a:moveTo>
                  <a:pt x="0" y="11912555"/>
                </a:moveTo>
                <a:lnTo>
                  <a:pt x="10721299" y="11912555"/>
                </a:lnTo>
                <a:lnTo>
                  <a:pt x="10721299" y="0"/>
                </a:lnTo>
                <a:lnTo>
                  <a:pt x="0" y="0"/>
                </a:lnTo>
                <a:lnTo>
                  <a:pt x="0" y="11912555"/>
                </a:lnTo>
                <a:close/>
              </a:path>
            </a:pathLst>
          </a:custGeom>
          <a:blipFill>
            <a:blip r:embed="rId2"/>
            <a:stretch>
              <a:fillRect l="0" t="0" r="0" b="0"/>
            </a:stretch>
          </a:blipFill>
        </p:spPr>
      </p:sp>
      <p:sp>
        <p:nvSpPr>
          <p:cNvPr name="Freeform 3" id="3"/>
          <p:cNvSpPr/>
          <p:nvPr/>
        </p:nvSpPr>
        <p:spPr>
          <a:xfrm flipH="true" flipV="false" rot="0">
            <a:off x="13709598" y="3653953"/>
            <a:ext cx="5969742" cy="6633047"/>
          </a:xfrm>
          <a:custGeom>
            <a:avLst/>
            <a:gdLst/>
            <a:ahLst/>
            <a:cxnLst/>
            <a:rect r="r" b="b" t="t" l="l"/>
            <a:pathLst>
              <a:path h="6633047" w="5969742">
                <a:moveTo>
                  <a:pt x="5969743" y="0"/>
                </a:moveTo>
                <a:lnTo>
                  <a:pt x="0" y="0"/>
                </a:lnTo>
                <a:lnTo>
                  <a:pt x="0" y="6633047"/>
                </a:lnTo>
                <a:lnTo>
                  <a:pt x="5969743" y="6633047"/>
                </a:lnTo>
                <a:lnTo>
                  <a:pt x="5969743" y="0"/>
                </a:lnTo>
                <a:close/>
              </a:path>
            </a:pathLst>
          </a:custGeom>
          <a:blipFill>
            <a:blip r:embed="rId2"/>
            <a:stretch>
              <a:fillRect l="0" t="0" r="0" b="0"/>
            </a:stretch>
          </a:blipFill>
        </p:spPr>
      </p:sp>
      <p:sp>
        <p:nvSpPr>
          <p:cNvPr name="Freeform 4" id="4"/>
          <p:cNvSpPr/>
          <p:nvPr/>
        </p:nvSpPr>
        <p:spPr>
          <a:xfrm flipH="false" flipV="false" rot="0">
            <a:off x="16694469"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598154" y="2616911"/>
            <a:ext cx="9697773" cy="4537053"/>
          </a:xfrm>
          <a:prstGeom prst="rect">
            <a:avLst/>
          </a:prstGeom>
        </p:spPr>
        <p:txBody>
          <a:bodyPr anchor="t" rtlCol="false" tIns="0" lIns="0" bIns="0" rIns="0">
            <a:spAutoFit/>
          </a:bodyPr>
          <a:lstStyle/>
          <a:p>
            <a:pPr algn="r">
              <a:lnSpc>
                <a:spcPts val="9016"/>
              </a:lnSpc>
            </a:pPr>
            <a:r>
              <a:rPr lang="en-US" sz="6440">
                <a:solidFill>
                  <a:srgbClr val="90606B"/>
                </a:solidFill>
                <a:latin typeface="Carelia"/>
                <a:ea typeface="Carelia"/>
                <a:cs typeface="Carelia"/>
                <a:sym typeface="Carelia"/>
              </a:rPr>
              <a:t>Tugas Besar Matematika Diskrit FOL Bentrok Penjadwalan Ujian ETS</a:t>
            </a:r>
          </a:p>
        </p:txBody>
      </p:sp>
      <p:sp>
        <p:nvSpPr>
          <p:cNvPr name="TextBox 6" id="6"/>
          <p:cNvSpPr txBox="true"/>
          <p:nvPr/>
        </p:nvSpPr>
        <p:spPr>
          <a:xfrm rot="0">
            <a:off x="5108796" y="8087145"/>
            <a:ext cx="8070407" cy="1171155"/>
          </a:xfrm>
          <a:prstGeom prst="rect">
            <a:avLst/>
          </a:prstGeom>
        </p:spPr>
        <p:txBody>
          <a:bodyPr anchor="t" rtlCol="false" tIns="0" lIns="0" bIns="0" rIns="0">
            <a:spAutoFit/>
          </a:bodyPr>
          <a:lstStyle/>
          <a:p>
            <a:pPr algn="ctr">
              <a:lnSpc>
                <a:spcPts val="4769"/>
              </a:lnSpc>
            </a:pPr>
            <a:r>
              <a:rPr lang="en-US" sz="3406" b="true">
                <a:solidFill>
                  <a:srgbClr val="90606B"/>
                </a:solidFill>
                <a:latin typeface="Muli Semi-Bold"/>
                <a:ea typeface="Muli Semi-Bold"/>
                <a:cs typeface="Muli Semi-Bold"/>
                <a:sym typeface="Muli Semi-Bold"/>
              </a:rPr>
              <a:t>Annisa Reida Kamilaini - 241524032</a:t>
            </a:r>
          </a:p>
          <a:p>
            <a:pPr algn="ctr">
              <a:lnSpc>
                <a:spcPts val="4769"/>
              </a:lnSpc>
            </a:pPr>
            <a:r>
              <a:rPr lang="en-US" sz="3406" b="true">
                <a:solidFill>
                  <a:srgbClr val="90606B"/>
                </a:solidFill>
                <a:latin typeface="Muli Semi-Bold"/>
                <a:ea typeface="Muli Semi-Bold"/>
                <a:cs typeface="Muli Semi-Bold"/>
                <a:sym typeface="Muli Semi-Bold"/>
              </a:rPr>
              <a:t>Shofiana Winocita - 241524061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7055955"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42262" y="1720849"/>
            <a:ext cx="15203476" cy="8152864"/>
          </a:xfrm>
          <a:custGeom>
            <a:avLst/>
            <a:gdLst/>
            <a:ahLst/>
            <a:cxnLst/>
            <a:rect r="r" b="b" t="t" l="l"/>
            <a:pathLst>
              <a:path h="8152864" w="15203476">
                <a:moveTo>
                  <a:pt x="0" y="0"/>
                </a:moveTo>
                <a:lnTo>
                  <a:pt x="15203476" y="0"/>
                </a:lnTo>
                <a:lnTo>
                  <a:pt x="15203476" y="8152864"/>
                </a:lnTo>
                <a:lnTo>
                  <a:pt x="0" y="8152864"/>
                </a:lnTo>
                <a:lnTo>
                  <a:pt x="0" y="0"/>
                </a:lnTo>
                <a:close/>
              </a:path>
            </a:pathLst>
          </a:custGeom>
          <a:blipFill>
            <a:blip r:embed="rId7"/>
            <a:stretch>
              <a:fillRect l="0" t="0" r="0" b="0"/>
            </a:stretch>
          </a:blipFill>
        </p:spPr>
      </p:sp>
      <p:sp>
        <p:nvSpPr>
          <p:cNvPr name="TextBox 7" id="7"/>
          <p:cNvSpPr txBox="true"/>
          <p:nvPr/>
        </p:nvSpPr>
        <p:spPr>
          <a:xfrm rot="0">
            <a:off x="2013799" y="342900"/>
            <a:ext cx="7130201"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Analisis Isu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935753" y="3409950"/>
            <a:ext cx="14260385" cy="4793583"/>
          </a:xfrm>
          <a:prstGeom prst="rect">
            <a:avLst/>
          </a:prstGeom>
        </p:spPr>
        <p:txBody>
          <a:bodyPr anchor="t" rtlCol="false" tIns="0" lIns="0" bIns="0" rIns="0">
            <a:spAutoFit/>
          </a:bodyPr>
          <a:lstStyle/>
          <a:p>
            <a:pPr algn="l">
              <a:lnSpc>
                <a:spcPts val="4737"/>
              </a:lnSpc>
            </a:pPr>
            <a:r>
              <a:rPr lang="en-US" sz="3383" b="true">
                <a:solidFill>
                  <a:srgbClr val="90606B"/>
                </a:solidFill>
                <a:latin typeface="Muli Bold"/>
                <a:ea typeface="Muli Bold"/>
                <a:cs typeface="Muli Bold"/>
                <a:sym typeface="Muli Bold"/>
              </a:rPr>
              <a:t>Dari hasil analisis Fishbone, dapat dirumuskan sebuah pertanyaan spesifik untuk diselesaikan dengan FOL, yaitu:</a:t>
            </a:r>
          </a:p>
          <a:p>
            <a:pPr algn="l">
              <a:lnSpc>
                <a:spcPts val="4737"/>
              </a:lnSpc>
            </a:pPr>
          </a:p>
          <a:p>
            <a:pPr algn="l">
              <a:lnSpc>
                <a:spcPts val="4737"/>
              </a:lnSpc>
            </a:pPr>
            <a:r>
              <a:rPr lang="en-US" sz="3383" b="true">
                <a:solidFill>
                  <a:srgbClr val="90606B"/>
                </a:solidFill>
                <a:latin typeface="Muli Bold"/>
                <a:ea typeface="Muli Bold"/>
                <a:cs typeface="Muli Bold"/>
                <a:sym typeface="Muli Bold"/>
              </a:rPr>
              <a:t>“Bagaimana menyusun penjadwalan waktu ETS agar semua mata kuliah di setiap program studi dan tingkat dapat terujikan, tanpa a</a:t>
            </a:r>
            <a:r>
              <a:rPr lang="en-US" sz="3383" b="true">
                <a:solidFill>
                  <a:srgbClr val="90606B"/>
                </a:solidFill>
                <a:latin typeface="Muli Bold"/>
                <a:ea typeface="Muli Bold"/>
                <a:cs typeface="Muli Bold"/>
                <a:sym typeface="Muli Bold"/>
              </a:rPr>
              <a:t>da terjadinya bentrok antara ruangan yang digunakan, kelas yang menjalani ujian, dan pengawas yang ditugaskan?”</a:t>
            </a:r>
          </a:p>
          <a:p>
            <a:pPr algn="l">
              <a:lnSpc>
                <a:spcPts val="4737"/>
              </a:lnSpc>
            </a:pPr>
          </a:p>
        </p:txBody>
      </p:sp>
      <p:sp>
        <p:nvSpPr>
          <p:cNvPr name="Freeform 6" id="6"/>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935753" y="1390650"/>
            <a:ext cx="11455389"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Problem Statement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false" flipV="true" rot="0">
            <a:off x="-2926850" y="0"/>
            <a:ext cx="10721300" cy="11912555"/>
          </a:xfrm>
          <a:custGeom>
            <a:avLst/>
            <a:gdLst/>
            <a:ahLst/>
            <a:cxnLst/>
            <a:rect r="r" b="b" t="t" l="l"/>
            <a:pathLst>
              <a:path h="11912555" w="10721300">
                <a:moveTo>
                  <a:pt x="0" y="11912555"/>
                </a:moveTo>
                <a:lnTo>
                  <a:pt x="10721299" y="11912555"/>
                </a:lnTo>
                <a:lnTo>
                  <a:pt x="10721299" y="0"/>
                </a:lnTo>
                <a:lnTo>
                  <a:pt x="0" y="0"/>
                </a:lnTo>
                <a:lnTo>
                  <a:pt x="0" y="11912555"/>
                </a:lnTo>
                <a:close/>
              </a:path>
            </a:pathLst>
          </a:custGeom>
          <a:blipFill>
            <a:blip r:embed="rId2"/>
            <a:stretch>
              <a:fillRect l="0" t="0" r="0" b="0"/>
            </a:stretch>
          </a:blipFill>
        </p:spPr>
      </p:sp>
      <p:sp>
        <p:nvSpPr>
          <p:cNvPr name="Freeform 3" id="3"/>
          <p:cNvSpPr/>
          <p:nvPr/>
        </p:nvSpPr>
        <p:spPr>
          <a:xfrm flipH="true" flipV="false" rot="0">
            <a:off x="13709598" y="3653953"/>
            <a:ext cx="5969742" cy="6633047"/>
          </a:xfrm>
          <a:custGeom>
            <a:avLst/>
            <a:gdLst/>
            <a:ahLst/>
            <a:cxnLst/>
            <a:rect r="r" b="b" t="t" l="l"/>
            <a:pathLst>
              <a:path h="6633047" w="5969742">
                <a:moveTo>
                  <a:pt x="5969743" y="0"/>
                </a:moveTo>
                <a:lnTo>
                  <a:pt x="0" y="0"/>
                </a:lnTo>
                <a:lnTo>
                  <a:pt x="0" y="6633047"/>
                </a:lnTo>
                <a:lnTo>
                  <a:pt x="5969743" y="6633047"/>
                </a:lnTo>
                <a:lnTo>
                  <a:pt x="5969743" y="0"/>
                </a:lnTo>
                <a:close/>
              </a:path>
            </a:pathLst>
          </a:custGeom>
          <a:blipFill>
            <a:blip r:embed="rId2"/>
            <a:stretch>
              <a:fillRect l="0" t="0" r="0" b="0"/>
            </a:stretch>
          </a:blipFill>
        </p:spPr>
      </p:sp>
      <p:sp>
        <p:nvSpPr>
          <p:cNvPr name="Freeform 4" id="4"/>
          <p:cNvSpPr/>
          <p:nvPr/>
        </p:nvSpPr>
        <p:spPr>
          <a:xfrm flipH="false" flipV="false" rot="0">
            <a:off x="16694469"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374820" y="3051625"/>
            <a:ext cx="8710217" cy="4516757"/>
          </a:xfrm>
          <a:prstGeom prst="rect">
            <a:avLst/>
          </a:prstGeom>
        </p:spPr>
        <p:txBody>
          <a:bodyPr anchor="t" rtlCol="false" tIns="0" lIns="0" bIns="0" rIns="0">
            <a:spAutoFit/>
          </a:bodyPr>
          <a:lstStyle/>
          <a:p>
            <a:pPr algn="r">
              <a:lnSpc>
                <a:spcPts val="12037"/>
              </a:lnSpc>
            </a:pPr>
            <a:r>
              <a:rPr lang="en-US" sz="8598">
                <a:solidFill>
                  <a:srgbClr val="90606B"/>
                </a:solidFill>
                <a:latin typeface="Carelia"/>
                <a:ea typeface="Carelia"/>
                <a:cs typeface="Carelia"/>
                <a:sym typeface="Carelia"/>
              </a:rPr>
              <a:t>Pemodelan Logika Orde Pertama (FOL)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925475" y="3207761"/>
            <a:ext cx="12930711" cy="5848350"/>
          </a:xfrm>
          <a:prstGeom prst="rect">
            <a:avLst/>
          </a:prstGeom>
        </p:spPr>
        <p:txBody>
          <a:bodyPr anchor="t" rtlCol="false" tIns="0" lIns="0" bIns="0" rIns="0">
            <a:spAutoFit/>
          </a:bodyPr>
          <a:lstStyle/>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jumlah_ruang(Gedung, Jumlah)</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ketersediaan_ruang(Ruang, Status)</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jadwal_penggunaan(Ruang, Waktu, Status)</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mata_kuliah(MK, Tingkat, Tipe)</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jumlah_kelas(Prodi, Tingkat, Jumlah)</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kelas_dijadwalkan(Kelas, MK, Waktu)</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kelas_di_ruang(Kelas, Ruang, Waktu)</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pengawas(Pengawas, Status)</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ditugaskan(Pengawas, Kelas, Waktu)</a:t>
            </a:r>
          </a:p>
          <a:p>
            <a:pPr algn="l" marL="647700" indent="-323850" lvl="1">
              <a:lnSpc>
                <a:spcPts val="4200"/>
              </a:lnSpc>
              <a:buAutoNum type="arabicPeriod" startAt="1"/>
            </a:pPr>
            <a:r>
              <a:rPr lang="en-US" b="true" sz="3000">
                <a:solidFill>
                  <a:srgbClr val="90606B"/>
                </a:solidFill>
                <a:latin typeface="Muli Bold"/>
                <a:ea typeface="Muli Bold"/>
                <a:cs typeface="Muli Bold"/>
                <a:sym typeface="Muli Bold"/>
              </a:rPr>
              <a:t>kebutuhan_ruang(TipeMK, JenisRuang)</a:t>
            </a:r>
          </a:p>
          <a:p>
            <a:pPr algn="l">
              <a:lnSpc>
                <a:spcPts val="4200"/>
              </a:lnSpc>
            </a:pPr>
          </a:p>
        </p:txBody>
      </p:sp>
      <p:sp>
        <p:nvSpPr>
          <p:cNvPr name="Freeform 6" id="6"/>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935753" y="342900"/>
            <a:ext cx="7130201"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Struktur KB</a:t>
            </a:r>
          </a:p>
        </p:txBody>
      </p:sp>
      <p:sp>
        <p:nvSpPr>
          <p:cNvPr name="Freeform 8" id="8"/>
          <p:cNvSpPr/>
          <p:nvPr/>
        </p:nvSpPr>
        <p:spPr>
          <a:xfrm flipH="false" flipV="false" rot="0">
            <a:off x="1935753" y="2084236"/>
            <a:ext cx="661274" cy="878504"/>
          </a:xfrm>
          <a:custGeom>
            <a:avLst/>
            <a:gdLst/>
            <a:ahLst/>
            <a:cxnLst/>
            <a:rect r="r" b="b" t="t" l="l"/>
            <a:pathLst>
              <a:path h="878504" w="661274">
                <a:moveTo>
                  <a:pt x="0" y="0"/>
                </a:moveTo>
                <a:lnTo>
                  <a:pt x="661274" y="0"/>
                </a:lnTo>
                <a:lnTo>
                  <a:pt x="661274" y="878505"/>
                </a:lnTo>
                <a:lnTo>
                  <a:pt x="0" y="8785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978493" y="2203780"/>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1</a:t>
            </a:r>
          </a:p>
        </p:txBody>
      </p:sp>
      <p:sp>
        <p:nvSpPr>
          <p:cNvPr name="TextBox 10" id="10"/>
          <p:cNvSpPr txBox="true"/>
          <p:nvPr/>
        </p:nvSpPr>
        <p:spPr>
          <a:xfrm rot="0">
            <a:off x="2925475" y="1993477"/>
            <a:ext cx="5757528" cy="1096221"/>
          </a:xfrm>
          <a:prstGeom prst="rect">
            <a:avLst/>
          </a:prstGeom>
        </p:spPr>
        <p:txBody>
          <a:bodyPr anchor="t" rtlCol="false" tIns="0" lIns="0" bIns="0" rIns="0">
            <a:spAutoFit/>
          </a:bodyPr>
          <a:lstStyle/>
          <a:p>
            <a:pPr algn="l">
              <a:lnSpc>
                <a:spcPts val="9043"/>
              </a:lnSpc>
            </a:pPr>
            <a:r>
              <a:rPr lang="en-US" sz="6459">
                <a:solidFill>
                  <a:srgbClr val="90606B"/>
                </a:solidFill>
                <a:latin typeface="Carelia"/>
                <a:ea typeface="Carelia"/>
                <a:cs typeface="Carelia"/>
                <a:sym typeface="Carelia"/>
              </a:rPr>
              <a:t>Predikat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792229">
            <a:off x="11909006" y="-937267"/>
            <a:ext cx="6850874" cy="6545439"/>
          </a:xfrm>
          <a:custGeom>
            <a:avLst/>
            <a:gdLst/>
            <a:ahLst/>
            <a:cxnLst/>
            <a:rect r="r" b="b" t="t" l="l"/>
            <a:pathLst>
              <a:path h="6545439" w="6850874">
                <a:moveTo>
                  <a:pt x="6850873" y="6545439"/>
                </a:moveTo>
                <a:lnTo>
                  <a:pt x="0" y="6545439"/>
                </a:lnTo>
                <a:lnTo>
                  <a:pt x="0" y="0"/>
                </a:lnTo>
                <a:lnTo>
                  <a:pt x="6850873" y="0"/>
                </a:lnTo>
                <a:lnTo>
                  <a:pt x="6850873" y="6545439"/>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065954" y="3212635"/>
            <a:ext cx="12930711" cy="6839585"/>
          </a:xfrm>
          <a:prstGeom prst="rect">
            <a:avLst/>
          </a:prstGeom>
        </p:spPr>
        <p:txBody>
          <a:bodyPr anchor="t" rtlCol="false" tIns="0" lIns="0" bIns="0" rIns="0">
            <a:spAutoFit/>
          </a:bodyPr>
          <a:lstStyle/>
          <a:p>
            <a:pPr algn="l">
              <a:lnSpc>
                <a:spcPts val="3640"/>
              </a:lnSpc>
            </a:pPr>
            <a:r>
              <a:rPr lang="en-US" sz="2600" b="true">
                <a:solidFill>
                  <a:srgbClr val="90606B"/>
                </a:solidFill>
                <a:latin typeface="Muli Bold"/>
                <a:ea typeface="Muli Bold"/>
                <a:cs typeface="Muli Bold"/>
                <a:sym typeface="Muli Bold"/>
              </a:rPr>
              <a:t>16) kelas_dijadwalkan(kelasA, mk_algoritma, jam_9).</a:t>
            </a:r>
          </a:p>
          <a:p>
            <a:pPr algn="l">
              <a:lnSpc>
                <a:spcPts val="3640"/>
              </a:lnSpc>
            </a:pPr>
            <a:r>
              <a:rPr lang="en-US" sz="2600" b="true">
                <a:solidFill>
                  <a:srgbClr val="90606B"/>
                </a:solidFill>
                <a:latin typeface="Muli Bold"/>
                <a:ea typeface="Muli Bold"/>
                <a:cs typeface="Muli Bold"/>
                <a:sym typeface="Muli Bold"/>
              </a:rPr>
              <a:t>17) kelas_dijadwalkan(kelasB, mk_jarkom, jam_9).</a:t>
            </a:r>
          </a:p>
          <a:p>
            <a:pPr algn="l">
              <a:lnSpc>
                <a:spcPts val="3640"/>
              </a:lnSpc>
            </a:pPr>
            <a:r>
              <a:rPr lang="en-US" sz="2600" b="true">
                <a:solidFill>
                  <a:srgbClr val="90606B"/>
                </a:solidFill>
                <a:latin typeface="Muli Bold"/>
                <a:ea typeface="Muli Bold"/>
                <a:cs typeface="Muli Bold"/>
                <a:sym typeface="Muli Bold"/>
              </a:rPr>
              <a:t>18) kelas_dijadwalkan(kelasC, mk_basisdata, jam_14).</a:t>
            </a:r>
          </a:p>
          <a:p>
            <a:pPr algn="l">
              <a:lnSpc>
                <a:spcPts val="3640"/>
              </a:lnSpc>
            </a:pPr>
            <a:r>
              <a:rPr lang="en-US" sz="2600" b="true">
                <a:solidFill>
                  <a:srgbClr val="90606B"/>
                </a:solidFill>
                <a:latin typeface="Muli Bold"/>
                <a:ea typeface="Muli Bold"/>
                <a:cs typeface="Muli Bold"/>
                <a:sym typeface="Muli Bold"/>
              </a:rPr>
              <a:t>19) butuh_ruang(kelasA).</a:t>
            </a:r>
          </a:p>
          <a:p>
            <a:pPr algn="l">
              <a:lnSpc>
                <a:spcPts val="3640"/>
              </a:lnSpc>
            </a:pPr>
            <a:r>
              <a:rPr lang="en-US" sz="2600" b="true">
                <a:solidFill>
                  <a:srgbClr val="90606B"/>
                </a:solidFill>
                <a:latin typeface="Muli Bold"/>
                <a:ea typeface="Muli Bold"/>
                <a:cs typeface="Muli Bold"/>
                <a:sym typeface="Muli Bold"/>
              </a:rPr>
              <a:t>20) butuh_ruang(kelasB).</a:t>
            </a:r>
          </a:p>
          <a:p>
            <a:pPr algn="l">
              <a:lnSpc>
                <a:spcPts val="3640"/>
              </a:lnSpc>
            </a:pPr>
            <a:r>
              <a:rPr lang="en-US" sz="2600" b="true">
                <a:solidFill>
                  <a:srgbClr val="90606B"/>
                </a:solidFill>
                <a:latin typeface="Muli Bold"/>
                <a:ea typeface="Muli Bold"/>
                <a:cs typeface="Muli Bold"/>
                <a:sym typeface="Muli Bold"/>
              </a:rPr>
              <a:t>21) butuh_ruang(kelasC).</a:t>
            </a:r>
          </a:p>
          <a:p>
            <a:pPr algn="l">
              <a:lnSpc>
                <a:spcPts val="3640"/>
              </a:lnSpc>
            </a:pPr>
            <a:r>
              <a:rPr lang="en-US" sz="2600" b="true">
                <a:solidFill>
                  <a:srgbClr val="90606B"/>
                </a:solidFill>
                <a:latin typeface="Muli Bold"/>
                <a:ea typeface="Muli Bold"/>
                <a:cs typeface="Muli Bold"/>
                <a:sym typeface="Muli Bold"/>
              </a:rPr>
              <a:t>22) kelas_di_ruang(kelasA, ruang_201, jam_9).</a:t>
            </a:r>
          </a:p>
          <a:p>
            <a:pPr algn="l">
              <a:lnSpc>
                <a:spcPts val="3640"/>
              </a:lnSpc>
            </a:pPr>
            <a:r>
              <a:rPr lang="en-US" sz="2600" b="true">
                <a:solidFill>
                  <a:srgbClr val="90606B"/>
                </a:solidFill>
                <a:latin typeface="Muli Bold"/>
                <a:ea typeface="Muli Bold"/>
                <a:cs typeface="Muli Bold"/>
                <a:sym typeface="Muli Bold"/>
              </a:rPr>
              <a:t>23) kelas_di_ruang(kelasB, ruang_201, jam_9).</a:t>
            </a:r>
          </a:p>
          <a:p>
            <a:pPr algn="l">
              <a:lnSpc>
                <a:spcPts val="3640"/>
              </a:lnSpc>
            </a:pPr>
            <a:r>
              <a:rPr lang="en-US" sz="2600" b="true">
                <a:solidFill>
                  <a:srgbClr val="90606B"/>
                </a:solidFill>
                <a:latin typeface="Muli Bold"/>
                <a:ea typeface="Muli Bold"/>
                <a:cs typeface="Muli Bold"/>
                <a:sym typeface="Muli Bold"/>
              </a:rPr>
              <a:t>24) kelas_di_ruang(kelasC, ruang_401, jam_14).</a:t>
            </a:r>
          </a:p>
          <a:p>
            <a:pPr algn="l">
              <a:lnSpc>
                <a:spcPts val="3640"/>
              </a:lnSpc>
            </a:pPr>
            <a:r>
              <a:rPr lang="en-US" sz="2600" b="true">
                <a:solidFill>
                  <a:srgbClr val="90606B"/>
                </a:solidFill>
                <a:latin typeface="Muli Bold"/>
                <a:ea typeface="Muli Bold"/>
                <a:cs typeface="Muli Bold"/>
                <a:sym typeface="Muli Bold"/>
              </a:rPr>
              <a:t>25) ditugaskan(pengawas_andi, kelasA, jam_9).</a:t>
            </a:r>
          </a:p>
          <a:p>
            <a:pPr algn="l">
              <a:lnSpc>
                <a:spcPts val="3640"/>
              </a:lnSpc>
            </a:pPr>
            <a:r>
              <a:rPr lang="en-US" sz="2600" b="true">
                <a:solidFill>
                  <a:srgbClr val="90606B"/>
                </a:solidFill>
                <a:latin typeface="Muli Bold"/>
                <a:ea typeface="Muli Bold"/>
                <a:cs typeface="Muli Bold"/>
                <a:sym typeface="Muli Bold"/>
              </a:rPr>
              <a:t>26) ditugaskan(pengawas_budi, kelasB, jam_9).</a:t>
            </a:r>
          </a:p>
          <a:p>
            <a:pPr algn="l">
              <a:lnSpc>
                <a:spcPts val="3640"/>
              </a:lnSpc>
            </a:pPr>
            <a:r>
              <a:rPr lang="en-US" sz="2600" b="true">
                <a:solidFill>
                  <a:srgbClr val="90606B"/>
                </a:solidFill>
                <a:latin typeface="Muli Bold"/>
                <a:ea typeface="Muli Bold"/>
                <a:cs typeface="Muli Bold"/>
                <a:sym typeface="Muli Bold"/>
              </a:rPr>
              <a:t>27) ditugaskan(pengawas_citra, kelasC, jam_14).</a:t>
            </a:r>
          </a:p>
          <a:p>
            <a:pPr algn="l">
              <a:lnSpc>
                <a:spcPts val="3640"/>
              </a:lnSpc>
            </a:pPr>
            <a:r>
              <a:rPr lang="en-US" sz="2600" b="true">
                <a:solidFill>
                  <a:srgbClr val="90606B"/>
                </a:solidFill>
                <a:latin typeface="Muli Bold"/>
                <a:ea typeface="Muli Bold"/>
                <a:cs typeface="Muli Bold"/>
                <a:sym typeface="Muli Bold"/>
              </a:rPr>
              <a:t>28) kebutuhan_ruang(teori, ruang_kelas).</a:t>
            </a:r>
          </a:p>
          <a:p>
            <a:pPr algn="l">
              <a:lnSpc>
                <a:spcPts val="3640"/>
              </a:lnSpc>
            </a:pPr>
            <a:r>
              <a:rPr lang="en-US" sz="2600" b="true">
                <a:solidFill>
                  <a:srgbClr val="90606B"/>
                </a:solidFill>
                <a:latin typeface="Muli Bold"/>
                <a:ea typeface="Muli Bold"/>
                <a:cs typeface="Muli Bold"/>
                <a:sym typeface="Muli Bold"/>
              </a:rPr>
              <a:t>29) kebutuhan_ruang(praktek, lab).</a:t>
            </a:r>
          </a:p>
          <a:p>
            <a:pPr algn="l">
              <a:lnSpc>
                <a:spcPts val="3640"/>
              </a:lnSpc>
            </a:pPr>
          </a:p>
        </p:txBody>
      </p:sp>
      <p:sp>
        <p:nvSpPr>
          <p:cNvPr name="Freeform 5" id="5"/>
          <p:cNvSpPr/>
          <p:nvPr/>
        </p:nvSpPr>
        <p:spPr>
          <a:xfrm flipH="true" flipV="false" rot="0">
            <a:off x="16816720" y="8594320"/>
            <a:ext cx="1303815" cy="1327960"/>
          </a:xfrm>
          <a:custGeom>
            <a:avLst/>
            <a:gdLst/>
            <a:ahLst/>
            <a:cxnLst/>
            <a:rect r="r" b="b" t="t" l="l"/>
            <a:pathLst>
              <a:path h="1327960" w="1303815">
                <a:moveTo>
                  <a:pt x="1303816" y="0"/>
                </a:moveTo>
                <a:lnTo>
                  <a:pt x="0" y="0"/>
                </a:lnTo>
                <a:lnTo>
                  <a:pt x="0" y="1327960"/>
                </a:lnTo>
                <a:lnTo>
                  <a:pt x="1303816" y="1327960"/>
                </a:lnTo>
                <a:lnTo>
                  <a:pt x="130381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935753" y="342900"/>
            <a:ext cx="7130201"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Struktur KB</a:t>
            </a:r>
          </a:p>
        </p:txBody>
      </p:sp>
      <p:sp>
        <p:nvSpPr>
          <p:cNvPr name="Freeform 7" id="7"/>
          <p:cNvSpPr/>
          <p:nvPr/>
        </p:nvSpPr>
        <p:spPr>
          <a:xfrm flipH="false" flipV="false" rot="0">
            <a:off x="385043" y="1987824"/>
            <a:ext cx="661274" cy="878504"/>
          </a:xfrm>
          <a:custGeom>
            <a:avLst/>
            <a:gdLst/>
            <a:ahLst/>
            <a:cxnLst/>
            <a:rect r="r" b="b" t="t" l="l"/>
            <a:pathLst>
              <a:path h="878504" w="661274">
                <a:moveTo>
                  <a:pt x="0" y="0"/>
                </a:moveTo>
                <a:lnTo>
                  <a:pt x="661274" y="0"/>
                </a:lnTo>
                <a:lnTo>
                  <a:pt x="661274" y="878504"/>
                </a:lnTo>
                <a:lnTo>
                  <a:pt x="0" y="8785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27783" y="2107368"/>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2</a:t>
            </a:r>
          </a:p>
        </p:txBody>
      </p:sp>
      <p:sp>
        <p:nvSpPr>
          <p:cNvPr name="TextBox 9" id="9"/>
          <p:cNvSpPr txBox="true"/>
          <p:nvPr/>
        </p:nvSpPr>
        <p:spPr>
          <a:xfrm rot="0">
            <a:off x="1374765" y="1897064"/>
            <a:ext cx="5757528" cy="1096221"/>
          </a:xfrm>
          <a:prstGeom prst="rect">
            <a:avLst/>
          </a:prstGeom>
        </p:spPr>
        <p:txBody>
          <a:bodyPr anchor="t" rtlCol="false" tIns="0" lIns="0" bIns="0" rIns="0">
            <a:spAutoFit/>
          </a:bodyPr>
          <a:lstStyle/>
          <a:p>
            <a:pPr algn="l">
              <a:lnSpc>
                <a:spcPts val="9043"/>
              </a:lnSpc>
            </a:pPr>
            <a:r>
              <a:rPr lang="en-US" sz="6459">
                <a:solidFill>
                  <a:srgbClr val="90606B"/>
                </a:solidFill>
                <a:latin typeface="Carelia"/>
                <a:ea typeface="Carelia"/>
                <a:cs typeface="Carelia"/>
                <a:sym typeface="Carelia"/>
              </a:rPr>
              <a:t>Fakta</a:t>
            </a:r>
          </a:p>
        </p:txBody>
      </p:sp>
      <p:sp>
        <p:nvSpPr>
          <p:cNvPr name="TextBox 10" id="10"/>
          <p:cNvSpPr txBox="true"/>
          <p:nvPr/>
        </p:nvSpPr>
        <p:spPr>
          <a:xfrm rot="0">
            <a:off x="385043" y="3212635"/>
            <a:ext cx="12930711" cy="6839585"/>
          </a:xfrm>
          <a:prstGeom prst="rect">
            <a:avLst/>
          </a:prstGeom>
        </p:spPr>
        <p:txBody>
          <a:bodyPr anchor="t" rtlCol="false" tIns="0" lIns="0" bIns="0" rIns="0">
            <a:spAutoFit/>
          </a:bodyPr>
          <a:lstStyle/>
          <a:p>
            <a:pPr algn="l">
              <a:lnSpc>
                <a:spcPts val="3640"/>
              </a:lnSpc>
            </a:pPr>
            <a:r>
              <a:rPr lang="en-US" sz="2600" b="true">
                <a:solidFill>
                  <a:srgbClr val="90606B"/>
                </a:solidFill>
                <a:latin typeface="Muli Bold"/>
                <a:ea typeface="Muli Bold"/>
                <a:cs typeface="Muli Bold"/>
                <a:sym typeface="Muli Bold"/>
              </a:rPr>
              <a:t>1) jumlah_ruang(gedung_jtk, 6).</a:t>
            </a:r>
          </a:p>
          <a:p>
            <a:pPr algn="l">
              <a:lnSpc>
                <a:spcPts val="3640"/>
              </a:lnSpc>
            </a:pPr>
            <a:r>
              <a:rPr lang="en-US" sz="2600" b="true">
                <a:solidFill>
                  <a:srgbClr val="90606B"/>
                </a:solidFill>
                <a:latin typeface="Muli Bold"/>
                <a:ea typeface="Muli Bold"/>
                <a:cs typeface="Muli Bold"/>
                <a:sym typeface="Muli Bold"/>
              </a:rPr>
              <a:t>2) ketersediaan_ruang(ruang_201, terpakai).</a:t>
            </a:r>
          </a:p>
          <a:p>
            <a:pPr algn="l">
              <a:lnSpc>
                <a:spcPts val="3640"/>
              </a:lnSpc>
            </a:pPr>
            <a:r>
              <a:rPr lang="en-US" sz="2600" b="true">
                <a:solidFill>
                  <a:srgbClr val="90606B"/>
                </a:solidFill>
                <a:latin typeface="Muli Bold"/>
                <a:ea typeface="Muli Bold"/>
                <a:cs typeface="Muli Bold"/>
                <a:sym typeface="Muli Bold"/>
              </a:rPr>
              <a:t>3) ketersediaan_ruang(ruang_301, tersedia).</a:t>
            </a:r>
          </a:p>
          <a:p>
            <a:pPr algn="l">
              <a:lnSpc>
                <a:spcPts val="3640"/>
              </a:lnSpc>
            </a:pPr>
            <a:r>
              <a:rPr lang="en-US" sz="2600" b="true">
                <a:solidFill>
                  <a:srgbClr val="90606B"/>
                </a:solidFill>
                <a:latin typeface="Muli Bold"/>
                <a:ea typeface="Muli Bold"/>
                <a:cs typeface="Muli Bold"/>
                <a:sym typeface="Muli Bold"/>
              </a:rPr>
              <a:t>4) ketersediaan_ruang(ruang_401, tersedia).</a:t>
            </a:r>
          </a:p>
          <a:p>
            <a:pPr algn="l">
              <a:lnSpc>
                <a:spcPts val="3640"/>
              </a:lnSpc>
            </a:pPr>
            <a:r>
              <a:rPr lang="en-US" sz="2600" b="true">
                <a:solidFill>
                  <a:srgbClr val="90606B"/>
                </a:solidFill>
                <a:latin typeface="Muli Bold"/>
                <a:ea typeface="Muli Bold"/>
                <a:cs typeface="Muli Bold"/>
                <a:sym typeface="Muli Bold"/>
              </a:rPr>
              <a:t>5) jadwal_penggunaan(ruang_201, jam_9, terpakai).</a:t>
            </a:r>
          </a:p>
          <a:p>
            <a:pPr algn="l">
              <a:lnSpc>
                <a:spcPts val="3640"/>
              </a:lnSpc>
            </a:pPr>
            <a:r>
              <a:rPr lang="en-US" sz="2600" b="true">
                <a:solidFill>
                  <a:srgbClr val="90606B"/>
                </a:solidFill>
                <a:latin typeface="Muli Bold"/>
                <a:ea typeface="Muli Bold"/>
                <a:cs typeface="Muli Bold"/>
                <a:sym typeface="Muli Bold"/>
              </a:rPr>
              <a:t>6) jadwal_penggunaan(ruang_301, jam_9, tersedia).</a:t>
            </a:r>
          </a:p>
          <a:p>
            <a:pPr algn="l">
              <a:lnSpc>
                <a:spcPts val="3640"/>
              </a:lnSpc>
            </a:pPr>
            <a:r>
              <a:rPr lang="en-US" sz="2600" b="true">
                <a:solidFill>
                  <a:srgbClr val="90606B"/>
                </a:solidFill>
                <a:latin typeface="Muli Bold"/>
                <a:ea typeface="Muli Bold"/>
                <a:cs typeface="Muli Bold"/>
                <a:sym typeface="Muli Bold"/>
              </a:rPr>
              <a:t>7) jadwal_penggunaan(ruang_401, jam_14, tersedia).</a:t>
            </a:r>
          </a:p>
          <a:p>
            <a:pPr algn="l">
              <a:lnSpc>
                <a:spcPts val="3640"/>
              </a:lnSpc>
            </a:pPr>
            <a:r>
              <a:rPr lang="en-US" sz="2600" b="true">
                <a:solidFill>
                  <a:srgbClr val="90606B"/>
                </a:solidFill>
                <a:latin typeface="Muli Bold"/>
                <a:ea typeface="Muli Bold"/>
                <a:cs typeface="Muli Bold"/>
                <a:sym typeface="Muli Bold"/>
              </a:rPr>
              <a:t>8) mata_kuliah(mk_algoritma, tingkat_1, teori).</a:t>
            </a:r>
          </a:p>
          <a:p>
            <a:pPr algn="l">
              <a:lnSpc>
                <a:spcPts val="3640"/>
              </a:lnSpc>
            </a:pPr>
            <a:r>
              <a:rPr lang="en-US" sz="2600" b="true">
                <a:solidFill>
                  <a:srgbClr val="90606B"/>
                </a:solidFill>
                <a:latin typeface="Muli Bold"/>
                <a:ea typeface="Muli Bold"/>
                <a:cs typeface="Muli Bold"/>
                <a:sym typeface="Muli Bold"/>
              </a:rPr>
              <a:t>9) mata_kuliah(mk_jarkom, tingkat_2, teori).</a:t>
            </a:r>
          </a:p>
          <a:p>
            <a:pPr algn="l">
              <a:lnSpc>
                <a:spcPts val="3640"/>
              </a:lnSpc>
            </a:pPr>
            <a:r>
              <a:rPr lang="en-US" sz="2600" b="true">
                <a:solidFill>
                  <a:srgbClr val="90606B"/>
                </a:solidFill>
                <a:latin typeface="Muli Bold"/>
                <a:ea typeface="Muli Bold"/>
                <a:cs typeface="Muli Bold"/>
                <a:sym typeface="Muli Bold"/>
              </a:rPr>
              <a:t>10) mata_kuliah(mk_basisdata, tingkat_1, teori).</a:t>
            </a:r>
          </a:p>
          <a:p>
            <a:pPr algn="l">
              <a:lnSpc>
                <a:spcPts val="3640"/>
              </a:lnSpc>
            </a:pPr>
            <a:r>
              <a:rPr lang="en-US" sz="2600" b="true">
                <a:solidFill>
                  <a:srgbClr val="90606B"/>
                </a:solidFill>
                <a:latin typeface="Muli Bold"/>
                <a:ea typeface="Muli Bold"/>
                <a:cs typeface="Muli Bold"/>
                <a:sym typeface="Muli Bold"/>
              </a:rPr>
              <a:t>11) jumlah_kelas(tif, tingkat_1, 7).</a:t>
            </a:r>
          </a:p>
          <a:p>
            <a:pPr algn="l">
              <a:lnSpc>
                <a:spcPts val="3640"/>
              </a:lnSpc>
            </a:pPr>
            <a:r>
              <a:rPr lang="en-US" sz="2600" b="true">
                <a:solidFill>
                  <a:srgbClr val="90606B"/>
                </a:solidFill>
                <a:latin typeface="Muli Bold"/>
                <a:ea typeface="Muli Bold"/>
                <a:cs typeface="Muli Bold"/>
                <a:sym typeface="Muli Bold"/>
              </a:rPr>
              <a:t>12) jumlah_kelas(tko, tingkat_1, 2).</a:t>
            </a:r>
          </a:p>
          <a:p>
            <a:pPr algn="l">
              <a:lnSpc>
                <a:spcPts val="3640"/>
              </a:lnSpc>
            </a:pPr>
            <a:r>
              <a:rPr lang="en-US" sz="2600" b="true">
                <a:solidFill>
                  <a:srgbClr val="90606B"/>
                </a:solidFill>
                <a:latin typeface="Muli Bold"/>
                <a:ea typeface="Muli Bold"/>
                <a:cs typeface="Muli Bold"/>
                <a:sym typeface="Muli Bold"/>
              </a:rPr>
              <a:t>13) pengawas(pengawas_andi, hadir).</a:t>
            </a:r>
          </a:p>
          <a:p>
            <a:pPr algn="l">
              <a:lnSpc>
                <a:spcPts val="3640"/>
              </a:lnSpc>
            </a:pPr>
            <a:r>
              <a:rPr lang="en-US" sz="2600" b="true">
                <a:solidFill>
                  <a:srgbClr val="90606B"/>
                </a:solidFill>
                <a:latin typeface="Muli Bold"/>
                <a:ea typeface="Muli Bold"/>
                <a:cs typeface="Muli Bold"/>
                <a:sym typeface="Muli Bold"/>
              </a:rPr>
              <a:t>14) pengawas(pengawas_budi, tidak_hadir).</a:t>
            </a:r>
          </a:p>
          <a:p>
            <a:pPr algn="l">
              <a:lnSpc>
                <a:spcPts val="3640"/>
              </a:lnSpc>
            </a:pPr>
            <a:r>
              <a:rPr lang="en-US" sz="2600" b="true">
                <a:solidFill>
                  <a:srgbClr val="90606B"/>
                </a:solidFill>
                <a:latin typeface="Muli Bold"/>
                <a:ea typeface="Muli Bold"/>
                <a:cs typeface="Muli Bold"/>
                <a:sym typeface="Muli Bold"/>
              </a:rPr>
              <a:t>15) pengawas(pengawas_citra, hadir).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5433990" y="-1772032"/>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11350" y="1957279"/>
            <a:ext cx="661274" cy="878504"/>
          </a:xfrm>
          <a:custGeom>
            <a:avLst/>
            <a:gdLst/>
            <a:ahLst/>
            <a:cxnLst/>
            <a:rect r="r" b="b" t="t" l="l"/>
            <a:pathLst>
              <a:path h="878504" w="661274">
                <a:moveTo>
                  <a:pt x="0" y="0"/>
                </a:moveTo>
                <a:lnTo>
                  <a:pt x="661274" y="0"/>
                </a:lnTo>
                <a:lnTo>
                  <a:pt x="661274" y="878505"/>
                </a:lnTo>
                <a:lnTo>
                  <a:pt x="0" y="8785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66857" y="3213169"/>
            <a:ext cx="7178869" cy="2666484"/>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1 : Bentrok Ruangan</a:t>
            </a:r>
          </a:p>
          <a:p>
            <a:pPr algn="l">
              <a:lnSpc>
                <a:spcPts val="3520"/>
              </a:lnSpc>
            </a:pPr>
            <a:r>
              <a:rPr lang="en-US" sz="2514" b="true">
                <a:solidFill>
                  <a:srgbClr val="90606B"/>
                </a:solidFill>
                <a:latin typeface="Muli Bold"/>
                <a:ea typeface="Muli Bold"/>
                <a:cs typeface="Muli Bold"/>
                <a:sym typeface="Muli Bold"/>
              </a:rPr>
              <a:t>bentrok_ruangan(K1, K2) :-</a:t>
            </a:r>
          </a:p>
          <a:p>
            <a:pPr algn="l">
              <a:lnSpc>
                <a:spcPts val="3520"/>
              </a:lnSpc>
            </a:pPr>
            <a:r>
              <a:rPr lang="en-US" sz="2514" b="true">
                <a:solidFill>
                  <a:srgbClr val="90606B"/>
                </a:solidFill>
                <a:latin typeface="Muli Bold"/>
                <a:ea typeface="Muli Bold"/>
                <a:cs typeface="Muli Bold"/>
                <a:sym typeface="Muli Bold"/>
              </a:rPr>
              <a:t>  kelas_di_ruang(K1, R, W),</a:t>
            </a:r>
          </a:p>
          <a:p>
            <a:pPr algn="l">
              <a:lnSpc>
                <a:spcPts val="3520"/>
              </a:lnSpc>
            </a:pPr>
            <a:r>
              <a:rPr lang="en-US" sz="2514" b="true">
                <a:solidFill>
                  <a:srgbClr val="90606B"/>
                </a:solidFill>
                <a:latin typeface="Muli Bold"/>
                <a:ea typeface="Muli Bold"/>
                <a:cs typeface="Muli Bold"/>
                <a:sym typeface="Muli Bold"/>
              </a:rPr>
              <a:t>  kelas_di_ruang(K2, R, W),</a:t>
            </a:r>
          </a:p>
          <a:p>
            <a:pPr algn="l">
              <a:lnSpc>
                <a:spcPts val="3520"/>
              </a:lnSpc>
            </a:pPr>
            <a:r>
              <a:rPr lang="en-US" sz="2514" b="true">
                <a:solidFill>
                  <a:srgbClr val="90606B"/>
                </a:solidFill>
                <a:latin typeface="Muli Bold"/>
                <a:ea typeface="Muli Bold"/>
                <a:cs typeface="Muli Bold"/>
                <a:sym typeface="Muli Bold"/>
              </a:rPr>
              <a:t>  K1 @&lt; K2.</a:t>
            </a:r>
          </a:p>
          <a:p>
            <a:pPr algn="l">
              <a:lnSpc>
                <a:spcPts val="3520"/>
              </a:lnSpc>
            </a:pPr>
          </a:p>
        </p:txBody>
      </p:sp>
      <p:sp>
        <p:nvSpPr>
          <p:cNvPr name="TextBox 8" id="8"/>
          <p:cNvSpPr txBox="true"/>
          <p:nvPr/>
        </p:nvSpPr>
        <p:spPr>
          <a:xfrm rot="0">
            <a:off x="1935753" y="342900"/>
            <a:ext cx="7130201"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Struktur KB</a:t>
            </a:r>
          </a:p>
        </p:txBody>
      </p:sp>
      <p:sp>
        <p:nvSpPr>
          <p:cNvPr name="TextBox 9" id="9"/>
          <p:cNvSpPr txBox="true"/>
          <p:nvPr/>
        </p:nvSpPr>
        <p:spPr>
          <a:xfrm rot="0">
            <a:off x="854090" y="2076823"/>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3</a:t>
            </a:r>
          </a:p>
        </p:txBody>
      </p:sp>
      <p:sp>
        <p:nvSpPr>
          <p:cNvPr name="TextBox 10" id="10"/>
          <p:cNvSpPr txBox="true"/>
          <p:nvPr/>
        </p:nvSpPr>
        <p:spPr>
          <a:xfrm rot="0">
            <a:off x="1801072" y="1866520"/>
            <a:ext cx="5757528" cy="1096221"/>
          </a:xfrm>
          <a:prstGeom prst="rect">
            <a:avLst/>
          </a:prstGeom>
        </p:spPr>
        <p:txBody>
          <a:bodyPr anchor="t" rtlCol="false" tIns="0" lIns="0" bIns="0" rIns="0">
            <a:spAutoFit/>
          </a:bodyPr>
          <a:lstStyle/>
          <a:p>
            <a:pPr algn="l">
              <a:lnSpc>
                <a:spcPts val="9043"/>
              </a:lnSpc>
            </a:pPr>
            <a:r>
              <a:rPr lang="en-US" sz="6459">
                <a:solidFill>
                  <a:srgbClr val="90606B"/>
                </a:solidFill>
                <a:latin typeface="Carelia"/>
                <a:ea typeface="Carelia"/>
                <a:cs typeface="Carelia"/>
                <a:sym typeface="Carelia"/>
              </a:rPr>
              <a:t>Rules</a:t>
            </a:r>
          </a:p>
        </p:txBody>
      </p:sp>
      <p:sp>
        <p:nvSpPr>
          <p:cNvPr name="TextBox 11" id="11"/>
          <p:cNvSpPr txBox="true"/>
          <p:nvPr/>
        </p:nvSpPr>
        <p:spPr>
          <a:xfrm rot="0">
            <a:off x="1066857" y="5640404"/>
            <a:ext cx="7178869" cy="2219361"/>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2 : Ruangan Tidak Dapat Digunakan</a:t>
            </a:r>
          </a:p>
          <a:p>
            <a:pPr algn="l">
              <a:lnSpc>
                <a:spcPts val="3520"/>
              </a:lnSpc>
            </a:pPr>
            <a:r>
              <a:rPr lang="en-US" sz="2514" b="true">
                <a:solidFill>
                  <a:srgbClr val="90606B"/>
                </a:solidFill>
                <a:latin typeface="Muli Bold"/>
                <a:ea typeface="Muli Bold"/>
                <a:cs typeface="Muli Bold"/>
                <a:sym typeface="Muli Bold"/>
              </a:rPr>
              <a:t>ruang_tidak_dapat_dipakai(R, W) :-</a:t>
            </a:r>
          </a:p>
          <a:p>
            <a:pPr algn="l">
              <a:lnSpc>
                <a:spcPts val="3520"/>
              </a:lnSpc>
            </a:pPr>
            <a:r>
              <a:rPr lang="en-US" sz="2514" b="true">
                <a:solidFill>
                  <a:srgbClr val="90606B"/>
                </a:solidFill>
                <a:latin typeface="Muli Bold"/>
                <a:ea typeface="Muli Bold"/>
                <a:cs typeface="Muli Bold"/>
                <a:sym typeface="Muli Bold"/>
              </a:rPr>
              <a:t>  jadwal_penggunaan(R, W, terpakai),</a:t>
            </a:r>
          </a:p>
          <a:p>
            <a:pPr algn="l">
              <a:lnSpc>
                <a:spcPts val="3520"/>
              </a:lnSpc>
            </a:pPr>
            <a:r>
              <a:rPr lang="en-US" sz="2514" b="true">
                <a:solidFill>
                  <a:srgbClr val="90606B"/>
                </a:solidFill>
                <a:latin typeface="Muli Bold"/>
                <a:ea typeface="Muli Bold"/>
                <a:cs typeface="Muli Bold"/>
                <a:sym typeface="Muli Bold"/>
              </a:rPr>
              <a:t>  ketersediaan_ruang(R, terpakai).</a:t>
            </a:r>
          </a:p>
          <a:p>
            <a:pPr algn="l">
              <a:lnSpc>
                <a:spcPts val="3520"/>
              </a:lnSpc>
            </a:pPr>
          </a:p>
        </p:txBody>
      </p:sp>
      <p:sp>
        <p:nvSpPr>
          <p:cNvPr name="TextBox 12" id="12"/>
          <p:cNvSpPr txBox="true"/>
          <p:nvPr/>
        </p:nvSpPr>
        <p:spPr>
          <a:xfrm rot="0">
            <a:off x="1066857" y="7620516"/>
            <a:ext cx="7178869" cy="2666484"/>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3 : Kekurangan Ruang</a:t>
            </a:r>
          </a:p>
          <a:p>
            <a:pPr algn="l">
              <a:lnSpc>
                <a:spcPts val="3520"/>
              </a:lnSpc>
            </a:pPr>
            <a:r>
              <a:rPr lang="en-US" sz="2514" b="true">
                <a:solidFill>
                  <a:srgbClr val="90606B"/>
                </a:solidFill>
                <a:latin typeface="Muli Bold"/>
                <a:ea typeface="Muli Bold"/>
                <a:cs typeface="Muli Bold"/>
                <a:sym typeface="Muli Bold"/>
              </a:rPr>
              <a:t>kekurangan_ruang(Prodi, Tingkat) :-</a:t>
            </a:r>
          </a:p>
          <a:p>
            <a:pPr algn="l">
              <a:lnSpc>
                <a:spcPts val="3520"/>
              </a:lnSpc>
            </a:pPr>
            <a:r>
              <a:rPr lang="en-US" sz="2514" b="true">
                <a:solidFill>
                  <a:srgbClr val="90606B"/>
                </a:solidFill>
                <a:latin typeface="Muli Bold"/>
                <a:ea typeface="Muli Bold"/>
                <a:cs typeface="Muli Bold"/>
                <a:sym typeface="Muli Bold"/>
              </a:rPr>
              <a:t>  jumlah_kelas(Prodi, Tingkat, JK),</a:t>
            </a:r>
          </a:p>
          <a:p>
            <a:pPr algn="l">
              <a:lnSpc>
                <a:spcPts val="3520"/>
              </a:lnSpc>
            </a:pPr>
            <a:r>
              <a:rPr lang="en-US" sz="2514" b="true">
                <a:solidFill>
                  <a:srgbClr val="90606B"/>
                </a:solidFill>
                <a:latin typeface="Muli Bold"/>
                <a:ea typeface="Muli Bold"/>
                <a:cs typeface="Muli Bold"/>
                <a:sym typeface="Muli Bold"/>
              </a:rPr>
              <a:t>  jumlah_ruang(gedung_jtk, JR),</a:t>
            </a:r>
          </a:p>
          <a:p>
            <a:pPr algn="l">
              <a:lnSpc>
                <a:spcPts val="3520"/>
              </a:lnSpc>
            </a:pPr>
            <a:r>
              <a:rPr lang="en-US" sz="2514" b="true">
                <a:solidFill>
                  <a:srgbClr val="90606B"/>
                </a:solidFill>
                <a:latin typeface="Muli Bold"/>
                <a:ea typeface="Muli Bold"/>
                <a:cs typeface="Muli Bold"/>
                <a:sym typeface="Muli Bold"/>
              </a:rPr>
              <a:t>  JK &gt; JR.</a:t>
            </a:r>
          </a:p>
          <a:p>
            <a:pPr algn="l">
              <a:lnSpc>
                <a:spcPts val="3520"/>
              </a:lnSpc>
            </a:pPr>
          </a:p>
        </p:txBody>
      </p:sp>
      <p:sp>
        <p:nvSpPr>
          <p:cNvPr name="TextBox 13" id="13"/>
          <p:cNvSpPr txBox="true"/>
          <p:nvPr/>
        </p:nvSpPr>
        <p:spPr>
          <a:xfrm rot="0">
            <a:off x="8617201" y="2318925"/>
            <a:ext cx="7178869" cy="3113606"/>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4 : Potensi Bentrok Ruang</a:t>
            </a:r>
          </a:p>
          <a:p>
            <a:pPr algn="l">
              <a:lnSpc>
                <a:spcPts val="3520"/>
              </a:lnSpc>
            </a:pPr>
            <a:r>
              <a:rPr lang="en-US" sz="2514" b="true">
                <a:solidFill>
                  <a:srgbClr val="90606B"/>
                </a:solidFill>
                <a:latin typeface="Muli Bold"/>
                <a:ea typeface="Muli Bold"/>
                <a:cs typeface="Muli Bold"/>
                <a:sym typeface="Muli Bold"/>
              </a:rPr>
              <a:t>potensi_bentrok(K, R, W) :-</a:t>
            </a:r>
          </a:p>
          <a:p>
            <a:pPr algn="l">
              <a:lnSpc>
                <a:spcPts val="3520"/>
              </a:lnSpc>
            </a:pPr>
            <a:r>
              <a:rPr lang="en-US" sz="2514" b="true">
                <a:solidFill>
                  <a:srgbClr val="90606B"/>
                </a:solidFill>
                <a:latin typeface="Muli Bold"/>
                <a:ea typeface="Muli Bold"/>
                <a:cs typeface="Muli Bold"/>
                <a:sym typeface="Muli Bold"/>
              </a:rPr>
              <a:t>  butuh_ruang(K),</a:t>
            </a:r>
          </a:p>
          <a:p>
            <a:pPr algn="l">
              <a:lnSpc>
                <a:spcPts val="3520"/>
              </a:lnSpc>
            </a:pPr>
            <a:r>
              <a:rPr lang="en-US" sz="2514" b="true">
                <a:solidFill>
                  <a:srgbClr val="90606B"/>
                </a:solidFill>
                <a:latin typeface="Muli Bold"/>
                <a:ea typeface="Muli Bold"/>
                <a:cs typeface="Muli Bold"/>
                <a:sym typeface="Muli Bold"/>
              </a:rPr>
              <a:t>  kelas_di_ruang(K, R, W),</a:t>
            </a:r>
          </a:p>
          <a:p>
            <a:pPr algn="l">
              <a:lnSpc>
                <a:spcPts val="3520"/>
              </a:lnSpc>
            </a:pPr>
            <a:r>
              <a:rPr lang="en-US" sz="2514" b="true">
                <a:solidFill>
                  <a:srgbClr val="90606B"/>
                </a:solidFill>
                <a:latin typeface="Muli Bold"/>
                <a:ea typeface="Muli Bold"/>
                <a:cs typeface="Muli Bold"/>
                <a:sym typeface="Muli Bold"/>
              </a:rPr>
              <a:t>  ruang_tidak_dapat_dipakai(R, W).</a:t>
            </a:r>
          </a:p>
          <a:p>
            <a:pPr algn="l">
              <a:lnSpc>
                <a:spcPts val="3520"/>
              </a:lnSpc>
            </a:pPr>
          </a:p>
          <a:p>
            <a:pPr algn="l">
              <a:lnSpc>
                <a:spcPts val="3520"/>
              </a:lnSpc>
            </a:pPr>
          </a:p>
        </p:txBody>
      </p:sp>
      <p:sp>
        <p:nvSpPr>
          <p:cNvPr name="TextBox 14" id="14"/>
          <p:cNvSpPr txBox="true"/>
          <p:nvPr/>
        </p:nvSpPr>
        <p:spPr>
          <a:xfrm rot="0">
            <a:off x="8617201" y="4746159"/>
            <a:ext cx="7178869" cy="2666484"/>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5 : Pengawas Tidak Bisa Mengawasi</a:t>
            </a:r>
          </a:p>
          <a:p>
            <a:pPr algn="l">
              <a:lnSpc>
                <a:spcPts val="3520"/>
              </a:lnSpc>
            </a:pPr>
            <a:r>
              <a:rPr lang="en-US" sz="2514" b="true">
                <a:solidFill>
                  <a:srgbClr val="90606B"/>
                </a:solidFill>
                <a:latin typeface="Muli Bold"/>
                <a:ea typeface="Muli Bold"/>
                <a:cs typeface="Muli Bold"/>
                <a:sym typeface="Muli Bold"/>
              </a:rPr>
              <a:t>pengawas_tidak_bisa(P, K) :-</a:t>
            </a:r>
          </a:p>
          <a:p>
            <a:pPr algn="l">
              <a:lnSpc>
                <a:spcPts val="3520"/>
              </a:lnSpc>
            </a:pPr>
            <a:r>
              <a:rPr lang="en-US" sz="2514" b="true">
                <a:solidFill>
                  <a:srgbClr val="90606B"/>
                </a:solidFill>
                <a:latin typeface="Muli Bold"/>
                <a:ea typeface="Muli Bold"/>
                <a:cs typeface="Muli Bold"/>
                <a:sym typeface="Muli Bold"/>
              </a:rPr>
              <a:t>  ditugaskan(P, K, _W),</a:t>
            </a:r>
          </a:p>
          <a:p>
            <a:pPr algn="l">
              <a:lnSpc>
                <a:spcPts val="3520"/>
              </a:lnSpc>
            </a:pPr>
            <a:r>
              <a:rPr lang="en-US" sz="2514" b="true">
                <a:solidFill>
                  <a:srgbClr val="90606B"/>
                </a:solidFill>
                <a:latin typeface="Muli Bold"/>
                <a:ea typeface="Muli Bold"/>
                <a:cs typeface="Muli Bold"/>
                <a:sym typeface="Muli Bold"/>
              </a:rPr>
              <a:t>  pengawas(P, tidak_hadir).</a:t>
            </a:r>
          </a:p>
          <a:p>
            <a:pPr algn="l">
              <a:lnSpc>
                <a:spcPts val="3520"/>
              </a:lnSpc>
            </a:pPr>
          </a:p>
          <a:p>
            <a:pPr algn="l">
              <a:lnSpc>
                <a:spcPts val="3520"/>
              </a:lnSpc>
            </a:pPr>
          </a:p>
        </p:txBody>
      </p:sp>
      <p:sp>
        <p:nvSpPr>
          <p:cNvPr name="TextBox 15" id="15"/>
          <p:cNvSpPr txBox="true"/>
          <p:nvPr/>
        </p:nvSpPr>
        <p:spPr>
          <a:xfrm rot="0">
            <a:off x="8617201" y="6726272"/>
            <a:ext cx="7178869" cy="3560728"/>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6 : Kelas Bermasalah</a:t>
            </a:r>
          </a:p>
          <a:p>
            <a:pPr algn="l">
              <a:lnSpc>
                <a:spcPts val="3520"/>
              </a:lnSpc>
            </a:pPr>
            <a:r>
              <a:rPr lang="en-US" sz="2514" b="true">
                <a:solidFill>
                  <a:srgbClr val="90606B"/>
                </a:solidFill>
                <a:latin typeface="Muli Bold"/>
                <a:ea typeface="Muli Bold"/>
                <a:cs typeface="Muli Bold"/>
                <a:sym typeface="Muli Bold"/>
              </a:rPr>
              <a:t>kelas_bermasalah(K) :-</a:t>
            </a:r>
          </a:p>
          <a:p>
            <a:pPr algn="l">
              <a:lnSpc>
                <a:spcPts val="3520"/>
              </a:lnSpc>
            </a:pPr>
            <a:r>
              <a:rPr lang="en-US" sz="2514" b="true">
                <a:solidFill>
                  <a:srgbClr val="90606B"/>
                </a:solidFill>
                <a:latin typeface="Muli Bold"/>
                <a:ea typeface="Muli Bold"/>
                <a:cs typeface="Muli Bold"/>
                <a:sym typeface="Muli Bold"/>
              </a:rPr>
              <a:t>  bentrok_ruangan(K, _).</a:t>
            </a:r>
          </a:p>
          <a:p>
            <a:pPr algn="l">
              <a:lnSpc>
                <a:spcPts val="3520"/>
              </a:lnSpc>
            </a:pPr>
            <a:r>
              <a:rPr lang="en-US" sz="2514" b="true">
                <a:solidFill>
                  <a:srgbClr val="90606B"/>
                </a:solidFill>
                <a:latin typeface="Muli Bold"/>
                <a:ea typeface="Muli Bold"/>
                <a:cs typeface="Muli Bold"/>
                <a:sym typeface="Muli Bold"/>
              </a:rPr>
              <a:t>kelas_bermasalah(K) :-</a:t>
            </a:r>
          </a:p>
          <a:p>
            <a:pPr algn="l">
              <a:lnSpc>
                <a:spcPts val="3520"/>
              </a:lnSpc>
            </a:pPr>
            <a:r>
              <a:rPr lang="en-US" sz="2514" b="true">
                <a:solidFill>
                  <a:srgbClr val="90606B"/>
                </a:solidFill>
                <a:latin typeface="Muli Bold"/>
                <a:ea typeface="Muli Bold"/>
                <a:cs typeface="Muli Bold"/>
                <a:sym typeface="Muli Bold"/>
              </a:rPr>
              <a:t>  bentrok_ruangan(_, K).</a:t>
            </a:r>
          </a:p>
          <a:p>
            <a:pPr algn="l">
              <a:lnSpc>
                <a:spcPts val="3520"/>
              </a:lnSpc>
            </a:pPr>
            <a:r>
              <a:rPr lang="en-US" sz="2514" b="true">
                <a:solidFill>
                  <a:srgbClr val="90606B"/>
                </a:solidFill>
                <a:latin typeface="Muli Bold"/>
                <a:ea typeface="Muli Bold"/>
                <a:cs typeface="Muli Bold"/>
                <a:sym typeface="Muli Bold"/>
              </a:rPr>
              <a:t>kelas_bermasalah(K) :-</a:t>
            </a:r>
          </a:p>
          <a:p>
            <a:pPr algn="l">
              <a:lnSpc>
                <a:spcPts val="3520"/>
              </a:lnSpc>
            </a:pPr>
            <a:r>
              <a:rPr lang="en-US" sz="2514" b="true">
                <a:solidFill>
                  <a:srgbClr val="90606B"/>
                </a:solidFill>
                <a:latin typeface="Muli Bold"/>
                <a:ea typeface="Muli Bold"/>
                <a:cs typeface="Muli Bold"/>
                <a:sym typeface="Muli Bold"/>
              </a:rPr>
              <a:t>  potensi_bentrok(K, _, _).</a:t>
            </a:r>
          </a:p>
          <a:p>
            <a:pPr algn="l">
              <a:lnSpc>
                <a:spcPts val="352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5433990" y="-1772032"/>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11350" y="1957279"/>
            <a:ext cx="661274" cy="878504"/>
          </a:xfrm>
          <a:custGeom>
            <a:avLst/>
            <a:gdLst/>
            <a:ahLst/>
            <a:cxnLst/>
            <a:rect r="r" b="b" t="t" l="l"/>
            <a:pathLst>
              <a:path h="878504" w="661274">
                <a:moveTo>
                  <a:pt x="0" y="0"/>
                </a:moveTo>
                <a:lnTo>
                  <a:pt x="661274" y="0"/>
                </a:lnTo>
                <a:lnTo>
                  <a:pt x="661274" y="878505"/>
                </a:lnTo>
                <a:lnTo>
                  <a:pt x="0" y="8785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965131" y="3155466"/>
            <a:ext cx="7178869" cy="2666484"/>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7 : Jadwal Bermasalah</a:t>
            </a:r>
          </a:p>
          <a:p>
            <a:pPr algn="l">
              <a:lnSpc>
                <a:spcPts val="3520"/>
              </a:lnSpc>
            </a:pPr>
            <a:r>
              <a:rPr lang="en-US" sz="2514" b="true">
                <a:solidFill>
                  <a:srgbClr val="90606B"/>
                </a:solidFill>
                <a:latin typeface="Muli Bold"/>
                <a:ea typeface="Muli Bold"/>
                <a:cs typeface="Muli Bold"/>
                <a:sym typeface="Muli Bold"/>
              </a:rPr>
              <a:t>jadwal_bermasalah(K) :-</a:t>
            </a:r>
          </a:p>
          <a:p>
            <a:pPr algn="l">
              <a:lnSpc>
                <a:spcPts val="3520"/>
              </a:lnSpc>
            </a:pPr>
            <a:r>
              <a:rPr lang="en-US" sz="2514" b="true">
                <a:solidFill>
                  <a:srgbClr val="90606B"/>
                </a:solidFill>
                <a:latin typeface="Muli Bold"/>
                <a:ea typeface="Muli Bold"/>
                <a:cs typeface="Muli Bold"/>
                <a:sym typeface="Muli Bold"/>
              </a:rPr>
              <a:t>  kelas_bermasalah(K),</a:t>
            </a:r>
          </a:p>
          <a:p>
            <a:pPr algn="l">
              <a:lnSpc>
                <a:spcPts val="3520"/>
              </a:lnSpc>
            </a:pPr>
            <a:r>
              <a:rPr lang="en-US" sz="2514" b="true">
                <a:solidFill>
                  <a:srgbClr val="90606B"/>
                </a:solidFill>
                <a:latin typeface="Muli Bold"/>
                <a:ea typeface="Muli Bold"/>
                <a:cs typeface="Muli Bold"/>
                <a:sym typeface="Muli Bold"/>
              </a:rPr>
              <a:t>  kelas_dijadwalkan(K, _, _).</a:t>
            </a:r>
          </a:p>
          <a:p>
            <a:pPr algn="l">
              <a:lnSpc>
                <a:spcPts val="3520"/>
              </a:lnSpc>
            </a:pPr>
          </a:p>
          <a:p>
            <a:pPr algn="l">
              <a:lnSpc>
                <a:spcPts val="3520"/>
              </a:lnSpc>
            </a:pPr>
          </a:p>
        </p:txBody>
      </p:sp>
      <p:sp>
        <p:nvSpPr>
          <p:cNvPr name="TextBox 8" id="8"/>
          <p:cNvSpPr txBox="true"/>
          <p:nvPr/>
        </p:nvSpPr>
        <p:spPr>
          <a:xfrm rot="0">
            <a:off x="1935753" y="342900"/>
            <a:ext cx="7130201"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Struktur KB</a:t>
            </a:r>
          </a:p>
        </p:txBody>
      </p:sp>
      <p:sp>
        <p:nvSpPr>
          <p:cNvPr name="TextBox 9" id="9"/>
          <p:cNvSpPr txBox="true"/>
          <p:nvPr/>
        </p:nvSpPr>
        <p:spPr>
          <a:xfrm rot="0">
            <a:off x="854090" y="2076823"/>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3</a:t>
            </a:r>
          </a:p>
        </p:txBody>
      </p:sp>
      <p:sp>
        <p:nvSpPr>
          <p:cNvPr name="TextBox 10" id="10"/>
          <p:cNvSpPr txBox="true"/>
          <p:nvPr/>
        </p:nvSpPr>
        <p:spPr>
          <a:xfrm rot="0">
            <a:off x="1801072" y="1866520"/>
            <a:ext cx="5757528" cy="1096221"/>
          </a:xfrm>
          <a:prstGeom prst="rect">
            <a:avLst/>
          </a:prstGeom>
        </p:spPr>
        <p:txBody>
          <a:bodyPr anchor="t" rtlCol="false" tIns="0" lIns="0" bIns="0" rIns="0">
            <a:spAutoFit/>
          </a:bodyPr>
          <a:lstStyle/>
          <a:p>
            <a:pPr algn="l">
              <a:lnSpc>
                <a:spcPts val="9043"/>
              </a:lnSpc>
            </a:pPr>
            <a:r>
              <a:rPr lang="en-US" sz="6459">
                <a:solidFill>
                  <a:srgbClr val="90606B"/>
                </a:solidFill>
                <a:latin typeface="Carelia"/>
                <a:ea typeface="Carelia"/>
                <a:cs typeface="Carelia"/>
                <a:sym typeface="Carelia"/>
              </a:rPr>
              <a:t>Rules</a:t>
            </a:r>
          </a:p>
        </p:txBody>
      </p:sp>
      <p:sp>
        <p:nvSpPr>
          <p:cNvPr name="TextBox 11" id="11"/>
          <p:cNvSpPr txBox="true"/>
          <p:nvPr/>
        </p:nvSpPr>
        <p:spPr>
          <a:xfrm rot="0">
            <a:off x="1965131" y="5582701"/>
            <a:ext cx="7178869" cy="2219361"/>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8 : Perlu Penjadwalan Ulang</a:t>
            </a:r>
          </a:p>
          <a:p>
            <a:pPr algn="l">
              <a:lnSpc>
                <a:spcPts val="3520"/>
              </a:lnSpc>
            </a:pPr>
            <a:r>
              <a:rPr lang="en-US" sz="2514" b="true">
                <a:solidFill>
                  <a:srgbClr val="90606B"/>
                </a:solidFill>
                <a:latin typeface="Muli Bold"/>
                <a:ea typeface="Muli Bold"/>
                <a:cs typeface="Muli Bold"/>
                <a:sym typeface="Muli Bold"/>
              </a:rPr>
              <a:t>perlu_penjadwalan_ulang(K) :-</a:t>
            </a:r>
          </a:p>
          <a:p>
            <a:pPr algn="l">
              <a:lnSpc>
                <a:spcPts val="3520"/>
              </a:lnSpc>
            </a:pPr>
            <a:r>
              <a:rPr lang="en-US" sz="2514" b="true">
                <a:solidFill>
                  <a:srgbClr val="90606B"/>
                </a:solidFill>
                <a:latin typeface="Muli Bold"/>
                <a:ea typeface="Muli Bold"/>
                <a:cs typeface="Muli Bold"/>
                <a:sym typeface="Muli Bold"/>
              </a:rPr>
              <a:t>  jadwal_bermasalah(K).</a:t>
            </a:r>
          </a:p>
          <a:p>
            <a:pPr algn="l">
              <a:lnSpc>
                <a:spcPts val="3520"/>
              </a:lnSpc>
            </a:pPr>
          </a:p>
          <a:p>
            <a:pPr algn="l">
              <a:lnSpc>
                <a:spcPts val="3520"/>
              </a:lnSpc>
            </a:pPr>
          </a:p>
        </p:txBody>
      </p:sp>
      <p:sp>
        <p:nvSpPr>
          <p:cNvPr name="TextBox 12" id="12"/>
          <p:cNvSpPr txBox="true"/>
          <p:nvPr/>
        </p:nvSpPr>
        <p:spPr>
          <a:xfrm rot="0">
            <a:off x="1965131" y="7562814"/>
            <a:ext cx="7178869" cy="2219361"/>
          </a:xfrm>
          <a:prstGeom prst="rect">
            <a:avLst/>
          </a:prstGeom>
        </p:spPr>
        <p:txBody>
          <a:bodyPr anchor="t" rtlCol="false" tIns="0" lIns="0" bIns="0" rIns="0">
            <a:spAutoFit/>
          </a:bodyPr>
          <a:lstStyle/>
          <a:p>
            <a:pPr algn="l">
              <a:lnSpc>
                <a:spcPts val="3520"/>
              </a:lnSpc>
            </a:pPr>
            <a:r>
              <a:rPr lang="en-US" sz="2514" b="true">
                <a:solidFill>
                  <a:srgbClr val="90606B"/>
                </a:solidFill>
                <a:latin typeface="Muli Bold"/>
                <a:ea typeface="Muli Bold"/>
                <a:cs typeface="Muli Bold"/>
                <a:sym typeface="Muli Bold"/>
              </a:rPr>
              <a:t>Rule 9 : Butuh Pengawas Pengganti</a:t>
            </a:r>
          </a:p>
          <a:p>
            <a:pPr algn="l">
              <a:lnSpc>
                <a:spcPts val="3520"/>
              </a:lnSpc>
            </a:pPr>
            <a:r>
              <a:rPr lang="en-US" sz="2514" b="true">
                <a:solidFill>
                  <a:srgbClr val="90606B"/>
                </a:solidFill>
                <a:latin typeface="Muli Bold"/>
                <a:ea typeface="Muli Bold"/>
                <a:cs typeface="Muli Bold"/>
                <a:sym typeface="Muli Bold"/>
              </a:rPr>
              <a:t>butuh_pengawas_pengganti(K) :-</a:t>
            </a:r>
          </a:p>
          <a:p>
            <a:pPr algn="l">
              <a:lnSpc>
                <a:spcPts val="3520"/>
              </a:lnSpc>
            </a:pPr>
            <a:r>
              <a:rPr lang="en-US" sz="2514" b="true">
                <a:solidFill>
                  <a:srgbClr val="90606B"/>
                </a:solidFill>
                <a:latin typeface="Muli Bold"/>
                <a:ea typeface="Muli Bold"/>
                <a:cs typeface="Muli Bold"/>
                <a:sym typeface="Muli Bold"/>
              </a:rPr>
              <a:t>  pengawas_tidak_bisa(_, K).</a:t>
            </a:r>
          </a:p>
          <a:p>
            <a:pPr algn="l">
              <a:lnSpc>
                <a:spcPts val="3520"/>
              </a:lnSpc>
            </a:pPr>
          </a:p>
          <a:p>
            <a:pPr algn="l">
              <a:lnSpc>
                <a:spcPts val="35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456814" y="1028700"/>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81207" y="2621956"/>
            <a:ext cx="13605799" cy="1292551"/>
          </a:xfrm>
          <a:custGeom>
            <a:avLst/>
            <a:gdLst/>
            <a:ahLst/>
            <a:cxnLst/>
            <a:rect r="r" b="b" t="t" l="l"/>
            <a:pathLst>
              <a:path h="1292551" w="13605799">
                <a:moveTo>
                  <a:pt x="0" y="0"/>
                </a:moveTo>
                <a:lnTo>
                  <a:pt x="13605800" y="0"/>
                </a:lnTo>
                <a:lnTo>
                  <a:pt x="13605800" y="1292550"/>
                </a:lnTo>
                <a:lnTo>
                  <a:pt x="0" y="1292550"/>
                </a:lnTo>
                <a:lnTo>
                  <a:pt x="0" y="0"/>
                </a:lnTo>
                <a:close/>
              </a:path>
            </a:pathLst>
          </a:custGeom>
          <a:blipFill>
            <a:blip r:embed="rId7"/>
            <a:stretch>
              <a:fillRect l="0" t="0" r="0" b="0"/>
            </a:stretch>
          </a:blipFill>
        </p:spPr>
      </p:sp>
      <p:sp>
        <p:nvSpPr>
          <p:cNvPr name="Freeform 7" id="7"/>
          <p:cNvSpPr/>
          <p:nvPr/>
        </p:nvSpPr>
        <p:spPr>
          <a:xfrm flipH="false" flipV="false" rot="0">
            <a:off x="1581207" y="5066111"/>
            <a:ext cx="13605799" cy="1734739"/>
          </a:xfrm>
          <a:custGeom>
            <a:avLst/>
            <a:gdLst/>
            <a:ahLst/>
            <a:cxnLst/>
            <a:rect r="r" b="b" t="t" l="l"/>
            <a:pathLst>
              <a:path h="1734739" w="13605799">
                <a:moveTo>
                  <a:pt x="0" y="0"/>
                </a:moveTo>
                <a:lnTo>
                  <a:pt x="13605800" y="0"/>
                </a:lnTo>
                <a:lnTo>
                  <a:pt x="13605800" y="1734739"/>
                </a:lnTo>
                <a:lnTo>
                  <a:pt x="0" y="1734739"/>
                </a:lnTo>
                <a:lnTo>
                  <a:pt x="0" y="0"/>
                </a:lnTo>
                <a:close/>
              </a:path>
            </a:pathLst>
          </a:custGeom>
          <a:blipFill>
            <a:blip r:embed="rId8"/>
            <a:stretch>
              <a:fillRect l="0" t="0" r="0" b="0"/>
            </a:stretch>
          </a:blipFill>
        </p:spPr>
      </p:sp>
      <p:sp>
        <p:nvSpPr>
          <p:cNvPr name="TextBox 8" id="8"/>
          <p:cNvSpPr txBox="true"/>
          <p:nvPr/>
        </p:nvSpPr>
        <p:spPr>
          <a:xfrm rot="0">
            <a:off x="2062292" y="4256486"/>
            <a:ext cx="1264362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Dalam Notasi FOL formal:</a:t>
            </a:r>
          </a:p>
        </p:txBody>
      </p:sp>
      <p:sp>
        <p:nvSpPr>
          <p:cNvPr name="TextBox 9" id="9"/>
          <p:cNvSpPr txBox="true"/>
          <p:nvPr/>
        </p:nvSpPr>
        <p:spPr>
          <a:xfrm rot="0">
            <a:off x="1840059" y="1021873"/>
            <a:ext cx="9355084"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Rantai 3 Langkah</a:t>
            </a:r>
          </a:p>
        </p:txBody>
      </p:sp>
      <p:sp>
        <p:nvSpPr>
          <p:cNvPr name="TextBox 10" id="10"/>
          <p:cNvSpPr txBox="true"/>
          <p:nvPr/>
        </p:nvSpPr>
        <p:spPr>
          <a:xfrm rot="0">
            <a:off x="2062292" y="7143750"/>
            <a:ext cx="12643629" cy="21145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Rantai ini menunjukkan bahwa jika suatu kelas mengalami bentrok ruangan, maka kelas tersebut bermasalah, menyebabkan jadwal ujian bermasalah, dan akhirnya memerlukan penjadwalan ulang.</a:t>
            </a:r>
          </a:p>
          <a:p>
            <a:pPr algn="l">
              <a:lnSpc>
                <a:spcPts val="42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6" id="6"/>
          <p:cNvGraphicFramePr/>
          <p:nvPr/>
        </p:nvGraphicFramePr>
        <p:xfrm>
          <a:off x="2118508" y="4532134"/>
          <a:ext cx="7543800" cy="2514600"/>
        </p:xfrm>
        <a:graphic>
          <a:graphicData uri="http://schemas.openxmlformats.org/presentationml/2006/ole">
            <p:oleObj imgW="9042400" imgH="4013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7" id="7"/>
          <p:cNvSpPr txBox="true"/>
          <p:nvPr/>
        </p:nvSpPr>
        <p:spPr>
          <a:xfrm rot="0">
            <a:off x="1935753" y="1961479"/>
            <a:ext cx="1264362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Rule kompleks yang dianalisis:</a:t>
            </a:r>
          </a:p>
        </p:txBody>
      </p:sp>
      <p:sp>
        <p:nvSpPr>
          <p:cNvPr name="TextBox 8" id="8"/>
          <p:cNvSpPr txBox="true"/>
          <p:nvPr/>
        </p:nvSpPr>
        <p:spPr>
          <a:xfrm rot="0">
            <a:off x="1935753" y="418486"/>
            <a:ext cx="10352410" cy="1218226"/>
          </a:xfrm>
          <a:prstGeom prst="rect">
            <a:avLst/>
          </a:prstGeom>
        </p:spPr>
        <p:txBody>
          <a:bodyPr anchor="t" rtlCol="false" tIns="0" lIns="0" bIns="0" rIns="0">
            <a:spAutoFit/>
          </a:bodyPr>
          <a:lstStyle/>
          <a:p>
            <a:pPr algn="l">
              <a:lnSpc>
                <a:spcPts val="9992"/>
              </a:lnSpc>
            </a:pPr>
            <a:r>
              <a:rPr lang="en-US" sz="7137">
                <a:solidFill>
                  <a:srgbClr val="90606B"/>
                </a:solidFill>
                <a:latin typeface="Carelia"/>
                <a:ea typeface="Carelia"/>
                <a:cs typeface="Carelia"/>
                <a:sym typeface="Carelia"/>
              </a:rPr>
              <a:t>Unifikasi (Mekanisme)</a:t>
            </a:r>
          </a:p>
        </p:txBody>
      </p:sp>
      <p:sp>
        <p:nvSpPr>
          <p:cNvPr name="TextBox 9" id="9"/>
          <p:cNvSpPr txBox="true"/>
          <p:nvPr/>
        </p:nvSpPr>
        <p:spPr>
          <a:xfrm rot="0">
            <a:off x="7971750" y="1971004"/>
            <a:ext cx="7215257" cy="2230370"/>
          </a:xfrm>
          <a:prstGeom prst="rect">
            <a:avLst/>
          </a:prstGeom>
        </p:spPr>
        <p:txBody>
          <a:bodyPr anchor="t" rtlCol="false" tIns="0" lIns="0" bIns="0" rIns="0">
            <a:spAutoFit/>
          </a:bodyPr>
          <a:lstStyle/>
          <a:p>
            <a:pPr algn="l">
              <a:lnSpc>
                <a:spcPts val="3538"/>
              </a:lnSpc>
            </a:pPr>
            <a:r>
              <a:rPr lang="en-US" sz="2527" b="true">
                <a:solidFill>
                  <a:srgbClr val="90606B"/>
                </a:solidFill>
                <a:latin typeface="Muli Bold"/>
                <a:ea typeface="Muli Bold"/>
                <a:cs typeface="Muli Bold"/>
                <a:sym typeface="Muli Bold"/>
              </a:rPr>
              <a:t>Rule 4 : Potensi Bentrok Ruang</a:t>
            </a:r>
          </a:p>
          <a:p>
            <a:pPr algn="l">
              <a:lnSpc>
                <a:spcPts val="3538"/>
              </a:lnSpc>
            </a:pPr>
            <a:r>
              <a:rPr lang="en-US" sz="2527" b="true">
                <a:solidFill>
                  <a:srgbClr val="90606B"/>
                </a:solidFill>
                <a:latin typeface="Muli Bold"/>
                <a:ea typeface="Muli Bold"/>
                <a:cs typeface="Muli Bold"/>
                <a:sym typeface="Muli Bold"/>
              </a:rPr>
              <a:t>potensi_bentrok(K, R, W) :-</a:t>
            </a:r>
          </a:p>
          <a:p>
            <a:pPr algn="l">
              <a:lnSpc>
                <a:spcPts val="3538"/>
              </a:lnSpc>
            </a:pPr>
            <a:r>
              <a:rPr lang="en-US" sz="2527" b="true">
                <a:solidFill>
                  <a:srgbClr val="90606B"/>
                </a:solidFill>
                <a:latin typeface="Muli Bold"/>
                <a:ea typeface="Muli Bold"/>
                <a:cs typeface="Muli Bold"/>
                <a:sym typeface="Muli Bold"/>
              </a:rPr>
              <a:t>  butuh_ruang(K),</a:t>
            </a:r>
          </a:p>
          <a:p>
            <a:pPr algn="l">
              <a:lnSpc>
                <a:spcPts val="3538"/>
              </a:lnSpc>
            </a:pPr>
            <a:r>
              <a:rPr lang="en-US" sz="2527" b="true">
                <a:solidFill>
                  <a:srgbClr val="90606B"/>
                </a:solidFill>
                <a:latin typeface="Muli Bold"/>
                <a:ea typeface="Muli Bold"/>
                <a:cs typeface="Muli Bold"/>
                <a:sym typeface="Muli Bold"/>
              </a:rPr>
              <a:t>  kelas_di_ruang(K, R, W),</a:t>
            </a:r>
          </a:p>
          <a:p>
            <a:pPr algn="l">
              <a:lnSpc>
                <a:spcPts val="3538"/>
              </a:lnSpc>
            </a:pPr>
            <a:r>
              <a:rPr lang="en-US" sz="2527" b="true">
                <a:solidFill>
                  <a:srgbClr val="90606B"/>
                </a:solidFill>
                <a:latin typeface="Muli Bold"/>
                <a:ea typeface="Muli Bold"/>
                <a:cs typeface="Muli Bold"/>
                <a:sym typeface="Muli Bold"/>
              </a:rPr>
              <a:t>  ruang_tidak_dapat_dipakai(R, 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404910" y="243469"/>
            <a:ext cx="913292" cy="930205"/>
          </a:xfrm>
          <a:custGeom>
            <a:avLst/>
            <a:gdLst/>
            <a:ahLst/>
            <a:cxnLst/>
            <a:rect r="r" b="b" t="t" l="l"/>
            <a:pathLst>
              <a:path h="930205" w="913292">
                <a:moveTo>
                  <a:pt x="0" y="0"/>
                </a:moveTo>
                <a:lnTo>
                  <a:pt x="913292" y="0"/>
                </a:lnTo>
                <a:lnTo>
                  <a:pt x="913292" y="930205"/>
                </a:lnTo>
                <a:lnTo>
                  <a:pt x="0" y="9302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362755" y="1914991"/>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209605" y="3282765"/>
            <a:ext cx="10979652" cy="750745"/>
          </a:xfrm>
          <a:custGeom>
            <a:avLst/>
            <a:gdLst/>
            <a:ahLst/>
            <a:cxnLst/>
            <a:rect r="r" b="b" t="t" l="l"/>
            <a:pathLst>
              <a:path h="750745" w="10979652">
                <a:moveTo>
                  <a:pt x="0" y="0"/>
                </a:moveTo>
                <a:lnTo>
                  <a:pt x="10979652" y="0"/>
                </a:lnTo>
                <a:lnTo>
                  <a:pt x="10979652" y="750745"/>
                </a:lnTo>
                <a:lnTo>
                  <a:pt x="0" y="750745"/>
                </a:lnTo>
                <a:lnTo>
                  <a:pt x="0" y="0"/>
                </a:lnTo>
                <a:close/>
              </a:path>
            </a:pathLst>
          </a:custGeom>
          <a:blipFill>
            <a:blip r:embed="rId7"/>
            <a:stretch>
              <a:fillRect l="0" t="0" r="0" b="0"/>
            </a:stretch>
          </a:blipFill>
        </p:spPr>
      </p:sp>
      <p:sp>
        <p:nvSpPr>
          <p:cNvPr name="Freeform 7" id="7"/>
          <p:cNvSpPr/>
          <p:nvPr/>
        </p:nvSpPr>
        <p:spPr>
          <a:xfrm flipH="false" flipV="false" rot="0">
            <a:off x="5442031" y="4218367"/>
            <a:ext cx="11000137" cy="714698"/>
          </a:xfrm>
          <a:custGeom>
            <a:avLst/>
            <a:gdLst/>
            <a:ahLst/>
            <a:cxnLst/>
            <a:rect r="r" b="b" t="t" l="l"/>
            <a:pathLst>
              <a:path h="714698" w="11000137">
                <a:moveTo>
                  <a:pt x="0" y="0"/>
                </a:moveTo>
                <a:lnTo>
                  <a:pt x="11000137" y="0"/>
                </a:lnTo>
                <a:lnTo>
                  <a:pt x="11000137" y="714698"/>
                </a:lnTo>
                <a:lnTo>
                  <a:pt x="0" y="714698"/>
                </a:lnTo>
                <a:lnTo>
                  <a:pt x="0" y="0"/>
                </a:lnTo>
                <a:close/>
              </a:path>
            </a:pathLst>
          </a:custGeom>
          <a:blipFill>
            <a:blip r:embed="rId8"/>
            <a:stretch>
              <a:fillRect l="0" t="0" r="0" b="0"/>
            </a:stretch>
          </a:blipFill>
        </p:spPr>
      </p:sp>
      <p:sp>
        <p:nvSpPr>
          <p:cNvPr name="Freeform 8" id="8"/>
          <p:cNvSpPr/>
          <p:nvPr/>
        </p:nvSpPr>
        <p:spPr>
          <a:xfrm flipH="false" flipV="false" rot="0">
            <a:off x="5259869" y="5037450"/>
            <a:ext cx="10879123" cy="856751"/>
          </a:xfrm>
          <a:custGeom>
            <a:avLst/>
            <a:gdLst/>
            <a:ahLst/>
            <a:cxnLst/>
            <a:rect r="r" b="b" t="t" l="l"/>
            <a:pathLst>
              <a:path h="856751" w="10879123">
                <a:moveTo>
                  <a:pt x="0" y="0"/>
                </a:moveTo>
                <a:lnTo>
                  <a:pt x="10879123" y="0"/>
                </a:lnTo>
                <a:lnTo>
                  <a:pt x="10879123" y="856751"/>
                </a:lnTo>
                <a:lnTo>
                  <a:pt x="0" y="856751"/>
                </a:lnTo>
                <a:lnTo>
                  <a:pt x="0" y="0"/>
                </a:lnTo>
                <a:close/>
              </a:path>
            </a:pathLst>
          </a:custGeom>
          <a:blipFill>
            <a:blip r:embed="rId9"/>
            <a:stretch>
              <a:fillRect l="0" t="0" r="0" b="0"/>
            </a:stretch>
          </a:blipFill>
        </p:spPr>
      </p:sp>
      <p:sp>
        <p:nvSpPr>
          <p:cNvPr name="Freeform 9" id="9"/>
          <p:cNvSpPr/>
          <p:nvPr/>
        </p:nvSpPr>
        <p:spPr>
          <a:xfrm flipH="false" flipV="false" rot="0">
            <a:off x="4659365" y="6115981"/>
            <a:ext cx="7758737" cy="673991"/>
          </a:xfrm>
          <a:custGeom>
            <a:avLst/>
            <a:gdLst/>
            <a:ahLst/>
            <a:cxnLst/>
            <a:rect r="r" b="b" t="t" l="l"/>
            <a:pathLst>
              <a:path h="673991" w="7758737">
                <a:moveTo>
                  <a:pt x="0" y="0"/>
                </a:moveTo>
                <a:lnTo>
                  <a:pt x="7758737" y="0"/>
                </a:lnTo>
                <a:lnTo>
                  <a:pt x="7758737" y="673992"/>
                </a:lnTo>
                <a:lnTo>
                  <a:pt x="0" y="673992"/>
                </a:lnTo>
                <a:lnTo>
                  <a:pt x="0" y="0"/>
                </a:lnTo>
                <a:close/>
              </a:path>
            </a:pathLst>
          </a:custGeom>
          <a:blipFill>
            <a:blip r:embed="rId10"/>
            <a:stretch>
              <a:fillRect l="0" t="0" r="0" b="0"/>
            </a:stretch>
          </a:blipFill>
        </p:spPr>
      </p:sp>
      <p:sp>
        <p:nvSpPr>
          <p:cNvPr name="Freeform 10" id="10"/>
          <p:cNvSpPr/>
          <p:nvPr/>
        </p:nvSpPr>
        <p:spPr>
          <a:xfrm flipH="false" flipV="false" rot="0">
            <a:off x="8051543" y="7943850"/>
            <a:ext cx="9541123" cy="500568"/>
          </a:xfrm>
          <a:custGeom>
            <a:avLst/>
            <a:gdLst/>
            <a:ahLst/>
            <a:cxnLst/>
            <a:rect r="r" b="b" t="t" l="l"/>
            <a:pathLst>
              <a:path h="500568" w="9541123">
                <a:moveTo>
                  <a:pt x="0" y="0"/>
                </a:moveTo>
                <a:lnTo>
                  <a:pt x="9541123" y="0"/>
                </a:lnTo>
                <a:lnTo>
                  <a:pt x="9541123" y="500568"/>
                </a:lnTo>
                <a:lnTo>
                  <a:pt x="0" y="500568"/>
                </a:lnTo>
                <a:lnTo>
                  <a:pt x="0" y="0"/>
                </a:lnTo>
                <a:close/>
              </a:path>
            </a:pathLst>
          </a:custGeom>
          <a:blipFill>
            <a:blip r:embed="rId11"/>
            <a:stretch>
              <a:fillRect l="0" t="0" r="0" b="0"/>
            </a:stretch>
          </a:blipFill>
        </p:spPr>
      </p:sp>
      <p:sp>
        <p:nvSpPr>
          <p:cNvPr name="Freeform 11" id="11"/>
          <p:cNvSpPr/>
          <p:nvPr/>
        </p:nvSpPr>
        <p:spPr>
          <a:xfrm flipH="false" flipV="false" rot="0">
            <a:off x="10053342" y="8717670"/>
            <a:ext cx="5228157" cy="489646"/>
          </a:xfrm>
          <a:custGeom>
            <a:avLst/>
            <a:gdLst/>
            <a:ahLst/>
            <a:cxnLst/>
            <a:rect r="r" b="b" t="t" l="l"/>
            <a:pathLst>
              <a:path h="489646" w="5228157">
                <a:moveTo>
                  <a:pt x="0" y="0"/>
                </a:moveTo>
                <a:lnTo>
                  <a:pt x="5228158" y="0"/>
                </a:lnTo>
                <a:lnTo>
                  <a:pt x="5228158" y="489647"/>
                </a:lnTo>
                <a:lnTo>
                  <a:pt x="0" y="489647"/>
                </a:lnTo>
                <a:lnTo>
                  <a:pt x="0" y="0"/>
                </a:lnTo>
                <a:close/>
              </a:path>
            </a:pathLst>
          </a:custGeom>
          <a:blipFill>
            <a:blip r:embed="rId12"/>
            <a:stretch>
              <a:fillRect l="0" t="0" r="0" b="0"/>
            </a:stretch>
          </a:blipFill>
        </p:spPr>
      </p:sp>
      <p:sp>
        <p:nvSpPr>
          <p:cNvPr name="Freeform 12" id="12"/>
          <p:cNvSpPr/>
          <p:nvPr/>
        </p:nvSpPr>
        <p:spPr>
          <a:xfrm flipH="false" flipV="false" rot="0">
            <a:off x="6506909" y="9388292"/>
            <a:ext cx="6505241" cy="573081"/>
          </a:xfrm>
          <a:custGeom>
            <a:avLst/>
            <a:gdLst/>
            <a:ahLst/>
            <a:cxnLst/>
            <a:rect r="r" b="b" t="t" l="l"/>
            <a:pathLst>
              <a:path h="573081" w="6505241">
                <a:moveTo>
                  <a:pt x="0" y="0"/>
                </a:moveTo>
                <a:lnTo>
                  <a:pt x="6505241" y="0"/>
                </a:lnTo>
                <a:lnTo>
                  <a:pt x="6505241" y="573080"/>
                </a:lnTo>
                <a:lnTo>
                  <a:pt x="0" y="573080"/>
                </a:lnTo>
                <a:lnTo>
                  <a:pt x="0" y="0"/>
                </a:lnTo>
                <a:close/>
              </a:path>
            </a:pathLst>
          </a:custGeom>
          <a:blipFill>
            <a:blip r:embed="rId13"/>
            <a:stretch>
              <a:fillRect l="0" t="0" r="0" b="0"/>
            </a:stretch>
          </a:blipFill>
        </p:spPr>
      </p:sp>
      <p:sp>
        <p:nvSpPr>
          <p:cNvPr name="TextBox 13" id="13"/>
          <p:cNvSpPr txBox="true"/>
          <p:nvPr/>
        </p:nvSpPr>
        <p:spPr>
          <a:xfrm rot="0">
            <a:off x="1632972" y="1510593"/>
            <a:ext cx="403117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Rule yang dianalisis:</a:t>
            </a:r>
          </a:p>
        </p:txBody>
      </p:sp>
      <p:sp>
        <p:nvSpPr>
          <p:cNvPr name="TextBox 14" id="14"/>
          <p:cNvSpPr txBox="true"/>
          <p:nvPr/>
        </p:nvSpPr>
        <p:spPr>
          <a:xfrm rot="0">
            <a:off x="1632972" y="222921"/>
            <a:ext cx="7511028" cy="1100149"/>
          </a:xfrm>
          <a:prstGeom prst="rect">
            <a:avLst/>
          </a:prstGeom>
        </p:spPr>
        <p:txBody>
          <a:bodyPr anchor="t" rtlCol="false" tIns="0" lIns="0" bIns="0" rIns="0">
            <a:spAutoFit/>
          </a:bodyPr>
          <a:lstStyle/>
          <a:p>
            <a:pPr algn="l">
              <a:lnSpc>
                <a:spcPts val="8992"/>
              </a:lnSpc>
            </a:pPr>
            <a:r>
              <a:rPr lang="en-US" sz="6423">
                <a:solidFill>
                  <a:srgbClr val="90606B"/>
                </a:solidFill>
                <a:latin typeface="Carelia"/>
                <a:ea typeface="Carelia"/>
                <a:cs typeface="Carelia"/>
                <a:sym typeface="Carelia"/>
              </a:rPr>
              <a:t>Resolusi (Teori)</a:t>
            </a:r>
          </a:p>
        </p:txBody>
      </p:sp>
      <p:sp>
        <p:nvSpPr>
          <p:cNvPr name="TextBox 15" id="15"/>
          <p:cNvSpPr txBox="true"/>
          <p:nvPr/>
        </p:nvSpPr>
        <p:spPr>
          <a:xfrm rot="0">
            <a:off x="5924018" y="1547902"/>
            <a:ext cx="7178869" cy="1462405"/>
          </a:xfrm>
          <a:prstGeom prst="rect">
            <a:avLst/>
          </a:prstGeom>
        </p:spPr>
        <p:txBody>
          <a:bodyPr anchor="t" rtlCol="false" tIns="0" lIns="0" bIns="0" rIns="0">
            <a:spAutoFit/>
          </a:bodyPr>
          <a:lstStyle/>
          <a:p>
            <a:pPr algn="l">
              <a:lnSpc>
                <a:spcPts val="3920"/>
              </a:lnSpc>
            </a:pPr>
            <a:r>
              <a:rPr lang="en-US" sz="2800" b="true">
                <a:solidFill>
                  <a:srgbClr val="90606B"/>
                </a:solidFill>
                <a:latin typeface="Muli Bold"/>
                <a:ea typeface="Muli Bold"/>
                <a:cs typeface="Muli Bold"/>
                <a:sym typeface="Muli Bold"/>
              </a:rPr>
              <a:t>Rule 8 : Perlu Penjadwalan Ulang</a:t>
            </a:r>
          </a:p>
          <a:p>
            <a:pPr algn="l">
              <a:lnSpc>
                <a:spcPts val="3920"/>
              </a:lnSpc>
            </a:pPr>
            <a:r>
              <a:rPr lang="en-US" sz="2800" b="true">
                <a:solidFill>
                  <a:srgbClr val="90606B"/>
                </a:solidFill>
                <a:latin typeface="Muli Bold"/>
                <a:ea typeface="Muli Bold"/>
                <a:cs typeface="Muli Bold"/>
                <a:sym typeface="Muli Bold"/>
              </a:rPr>
              <a:t>perlu_penjadwalan_ulang(K) :-</a:t>
            </a:r>
          </a:p>
          <a:p>
            <a:pPr algn="l">
              <a:lnSpc>
                <a:spcPts val="3920"/>
              </a:lnSpc>
            </a:pPr>
            <a:r>
              <a:rPr lang="en-US" sz="2800" b="true">
                <a:solidFill>
                  <a:srgbClr val="90606B"/>
                </a:solidFill>
                <a:latin typeface="Muli Bold"/>
                <a:ea typeface="Muli Bold"/>
                <a:cs typeface="Muli Bold"/>
                <a:sym typeface="Muli Bold"/>
              </a:rPr>
              <a:t>  jadwal_bermasalah(K).</a:t>
            </a:r>
          </a:p>
        </p:txBody>
      </p:sp>
      <p:sp>
        <p:nvSpPr>
          <p:cNvPr name="TextBox 16" id="16"/>
          <p:cNvSpPr txBox="true"/>
          <p:nvPr/>
        </p:nvSpPr>
        <p:spPr>
          <a:xfrm rot="0">
            <a:off x="1632972" y="3276616"/>
            <a:ext cx="3217781"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Bentuk FOL:</a:t>
            </a:r>
          </a:p>
        </p:txBody>
      </p:sp>
      <p:sp>
        <p:nvSpPr>
          <p:cNvPr name="TextBox 17" id="17"/>
          <p:cNvSpPr txBox="true"/>
          <p:nvPr/>
        </p:nvSpPr>
        <p:spPr>
          <a:xfrm rot="0">
            <a:off x="1632972" y="4161217"/>
            <a:ext cx="357663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Eliminasi Implikasi:</a:t>
            </a:r>
          </a:p>
        </p:txBody>
      </p:sp>
      <p:sp>
        <p:nvSpPr>
          <p:cNvPr name="TextBox 18" id="18"/>
          <p:cNvSpPr txBox="true"/>
          <p:nvPr/>
        </p:nvSpPr>
        <p:spPr>
          <a:xfrm rot="0">
            <a:off x="1632972" y="5180076"/>
            <a:ext cx="302639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Clausal Form:</a:t>
            </a:r>
          </a:p>
        </p:txBody>
      </p:sp>
      <p:sp>
        <p:nvSpPr>
          <p:cNvPr name="TextBox 19" id="19"/>
          <p:cNvSpPr txBox="true"/>
          <p:nvPr/>
        </p:nvSpPr>
        <p:spPr>
          <a:xfrm rot="0">
            <a:off x="1632972" y="6167227"/>
            <a:ext cx="302639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Negasi Tujuan:</a:t>
            </a:r>
          </a:p>
        </p:txBody>
      </p:sp>
      <p:sp>
        <p:nvSpPr>
          <p:cNvPr name="TextBox 20" id="20"/>
          <p:cNvSpPr txBox="true"/>
          <p:nvPr/>
        </p:nvSpPr>
        <p:spPr>
          <a:xfrm rot="0">
            <a:off x="1632972" y="7075723"/>
            <a:ext cx="7428675" cy="658212"/>
          </a:xfrm>
          <a:prstGeom prst="rect">
            <a:avLst/>
          </a:prstGeom>
        </p:spPr>
        <p:txBody>
          <a:bodyPr anchor="t" rtlCol="false" tIns="0" lIns="0" bIns="0" rIns="0">
            <a:spAutoFit/>
          </a:bodyPr>
          <a:lstStyle/>
          <a:p>
            <a:pPr algn="l">
              <a:lnSpc>
                <a:spcPts val="5346"/>
              </a:lnSpc>
            </a:pPr>
            <a:r>
              <a:rPr lang="en-US" sz="3818" b="true">
                <a:solidFill>
                  <a:srgbClr val="90606B"/>
                </a:solidFill>
                <a:latin typeface="Muli Bold"/>
                <a:ea typeface="Muli Bold"/>
                <a:cs typeface="Muli Bold"/>
                <a:sym typeface="Muli Bold"/>
              </a:rPr>
              <a:t>Himpunan Klausa:</a:t>
            </a:r>
          </a:p>
        </p:txBody>
      </p:sp>
      <p:sp>
        <p:nvSpPr>
          <p:cNvPr name="TextBox 21" id="21"/>
          <p:cNvSpPr txBox="true"/>
          <p:nvPr/>
        </p:nvSpPr>
        <p:spPr>
          <a:xfrm rot="0">
            <a:off x="3503467" y="7902931"/>
            <a:ext cx="4548076"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Klausa hasil CNF Rule 8:</a:t>
            </a:r>
          </a:p>
        </p:txBody>
      </p:sp>
      <p:sp>
        <p:nvSpPr>
          <p:cNvPr name="TextBox 22" id="22"/>
          <p:cNvSpPr txBox="true"/>
          <p:nvPr/>
        </p:nvSpPr>
        <p:spPr>
          <a:xfrm rot="0">
            <a:off x="3503467" y="8634918"/>
            <a:ext cx="6256062"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Fakta hasil inferensi sebelumnya:</a:t>
            </a:r>
          </a:p>
        </p:txBody>
      </p:sp>
      <p:sp>
        <p:nvSpPr>
          <p:cNvPr name="TextBox 23" id="23"/>
          <p:cNvSpPr txBox="true"/>
          <p:nvPr/>
        </p:nvSpPr>
        <p:spPr>
          <a:xfrm rot="0">
            <a:off x="3503467" y="9435917"/>
            <a:ext cx="3128031"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Negasi tujuan: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404910" y="243469"/>
            <a:ext cx="913292" cy="930205"/>
          </a:xfrm>
          <a:custGeom>
            <a:avLst/>
            <a:gdLst/>
            <a:ahLst/>
            <a:cxnLst/>
            <a:rect r="r" b="b" t="t" l="l"/>
            <a:pathLst>
              <a:path h="930205" w="913292">
                <a:moveTo>
                  <a:pt x="0" y="0"/>
                </a:moveTo>
                <a:lnTo>
                  <a:pt x="913292" y="0"/>
                </a:lnTo>
                <a:lnTo>
                  <a:pt x="913292" y="930205"/>
                </a:lnTo>
                <a:lnTo>
                  <a:pt x="0" y="9302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362755" y="1914991"/>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209605" y="3282765"/>
            <a:ext cx="10979652" cy="750745"/>
          </a:xfrm>
          <a:custGeom>
            <a:avLst/>
            <a:gdLst/>
            <a:ahLst/>
            <a:cxnLst/>
            <a:rect r="r" b="b" t="t" l="l"/>
            <a:pathLst>
              <a:path h="750745" w="10979652">
                <a:moveTo>
                  <a:pt x="0" y="0"/>
                </a:moveTo>
                <a:lnTo>
                  <a:pt x="10979652" y="0"/>
                </a:lnTo>
                <a:lnTo>
                  <a:pt x="10979652" y="750745"/>
                </a:lnTo>
                <a:lnTo>
                  <a:pt x="0" y="750745"/>
                </a:lnTo>
                <a:lnTo>
                  <a:pt x="0" y="0"/>
                </a:lnTo>
                <a:close/>
              </a:path>
            </a:pathLst>
          </a:custGeom>
          <a:blipFill>
            <a:blip r:embed="rId7"/>
            <a:stretch>
              <a:fillRect l="0" t="0" r="0" b="0"/>
            </a:stretch>
          </a:blipFill>
        </p:spPr>
      </p:sp>
      <p:sp>
        <p:nvSpPr>
          <p:cNvPr name="Freeform 7" id="7"/>
          <p:cNvSpPr/>
          <p:nvPr/>
        </p:nvSpPr>
        <p:spPr>
          <a:xfrm flipH="false" flipV="false" rot="0">
            <a:off x="5442031" y="4218367"/>
            <a:ext cx="11000137" cy="714698"/>
          </a:xfrm>
          <a:custGeom>
            <a:avLst/>
            <a:gdLst/>
            <a:ahLst/>
            <a:cxnLst/>
            <a:rect r="r" b="b" t="t" l="l"/>
            <a:pathLst>
              <a:path h="714698" w="11000137">
                <a:moveTo>
                  <a:pt x="0" y="0"/>
                </a:moveTo>
                <a:lnTo>
                  <a:pt x="11000137" y="0"/>
                </a:lnTo>
                <a:lnTo>
                  <a:pt x="11000137" y="714698"/>
                </a:lnTo>
                <a:lnTo>
                  <a:pt x="0" y="714698"/>
                </a:lnTo>
                <a:lnTo>
                  <a:pt x="0" y="0"/>
                </a:lnTo>
                <a:close/>
              </a:path>
            </a:pathLst>
          </a:custGeom>
          <a:blipFill>
            <a:blip r:embed="rId8"/>
            <a:stretch>
              <a:fillRect l="0" t="0" r="0" b="0"/>
            </a:stretch>
          </a:blipFill>
        </p:spPr>
      </p:sp>
      <p:sp>
        <p:nvSpPr>
          <p:cNvPr name="Freeform 8" id="8"/>
          <p:cNvSpPr/>
          <p:nvPr/>
        </p:nvSpPr>
        <p:spPr>
          <a:xfrm flipH="false" flipV="false" rot="0">
            <a:off x="5259869" y="5037450"/>
            <a:ext cx="10879123" cy="856751"/>
          </a:xfrm>
          <a:custGeom>
            <a:avLst/>
            <a:gdLst/>
            <a:ahLst/>
            <a:cxnLst/>
            <a:rect r="r" b="b" t="t" l="l"/>
            <a:pathLst>
              <a:path h="856751" w="10879123">
                <a:moveTo>
                  <a:pt x="0" y="0"/>
                </a:moveTo>
                <a:lnTo>
                  <a:pt x="10879123" y="0"/>
                </a:lnTo>
                <a:lnTo>
                  <a:pt x="10879123" y="856751"/>
                </a:lnTo>
                <a:lnTo>
                  <a:pt x="0" y="856751"/>
                </a:lnTo>
                <a:lnTo>
                  <a:pt x="0" y="0"/>
                </a:lnTo>
                <a:close/>
              </a:path>
            </a:pathLst>
          </a:custGeom>
          <a:blipFill>
            <a:blip r:embed="rId9"/>
            <a:stretch>
              <a:fillRect l="0" t="0" r="0" b="0"/>
            </a:stretch>
          </a:blipFill>
        </p:spPr>
      </p:sp>
      <p:sp>
        <p:nvSpPr>
          <p:cNvPr name="Freeform 9" id="9"/>
          <p:cNvSpPr/>
          <p:nvPr/>
        </p:nvSpPr>
        <p:spPr>
          <a:xfrm flipH="false" flipV="false" rot="0">
            <a:off x="4659365" y="6115981"/>
            <a:ext cx="7758737" cy="673991"/>
          </a:xfrm>
          <a:custGeom>
            <a:avLst/>
            <a:gdLst/>
            <a:ahLst/>
            <a:cxnLst/>
            <a:rect r="r" b="b" t="t" l="l"/>
            <a:pathLst>
              <a:path h="673991" w="7758737">
                <a:moveTo>
                  <a:pt x="0" y="0"/>
                </a:moveTo>
                <a:lnTo>
                  <a:pt x="7758737" y="0"/>
                </a:lnTo>
                <a:lnTo>
                  <a:pt x="7758737" y="673992"/>
                </a:lnTo>
                <a:lnTo>
                  <a:pt x="0" y="673992"/>
                </a:lnTo>
                <a:lnTo>
                  <a:pt x="0" y="0"/>
                </a:lnTo>
                <a:close/>
              </a:path>
            </a:pathLst>
          </a:custGeom>
          <a:blipFill>
            <a:blip r:embed="rId10"/>
            <a:stretch>
              <a:fillRect l="0" t="0" r="0" b="0"/>
            </a:stretch>
          </a:blipFill>
        </p:spPr>
      </p:sp>
      <p:sp>
        <p:nvSpPr>
          <p:cNvPr name="Freeform 10" id="10"/>
          <p:cNvSpPr/>
          <p:nvPr/>
        </p:nvSpPr>
        <p:spPr>
          <a:xfrm flipH="false" flipV="false" rot="0">
            <a:off x="8051543" y="7943850"/>
            <a:ext cx="9541123" cy="500568"/>
          </a:xfrm>
          <a:custGeom>
            <a:avLst/>
            <a:gdLst/>
            <a:ahLst/>
            <a:cxnLst/>
            <a:rect r="r" b="b" t="t" l="l"/>
            <a:pathLst>
              <a:path h="500568" w="9541123">
                <a:moveTo>
                  <a:pt x="0" y="0"/>
                </a:moveTo>
                <a:lnTo>
                  <a:pt x="9541123" y="0"/>
                </a:lnTo>
                <a:lnTo>
                  <a:pt x="9541123" y="500568"/>
                </a:lnTo>
                <a:lnTo>
                  <a:pt x="0" y="500568"/>
                </a:lnTo>
                <a:lnTo>
                  <a:pt x="0" y="0"/>
                </a:lnTo>
                <a:close/>
              </a:path>
            </a:pathLst>
          </a:custGeom>
          <a:blipFill>
            <a:blip r:embed="rId11"/>
            <a:stretch>
              <a:fillRect l="0" t="0" r="0" b="0"/>
            </a:stretch>
          </a:blipFill>
        </p:spPr>
      </p:sp>
      <p:sp>
        <p:nvSpPr>
          <p:cNvPr name="Freeform 11" id="11"/>
          <p:cNvSpPr/>
          <p:nvPr/>
        </p:nvSpPr>
        <p:spPr>
          <a:xfrm flipH="false" flipV="false" rot="0">
            <a:off x="10053342" y="8717670"/>
            <a:ext cx="5228157" cy="489646"/>
          </a:xfrm>
          <a:custGeom>
            <a:avLst/>
            <a:gdLst/>
            <a:ahLst/>
            <a:cxnLst/>
            <a:rect r="r" b="b" t="t" l="l"/>
            <a:pathLst>
              <a:path h="489646" w="5228157">
                <a:moveTo>
                  <a:pt x="0" y="0"/>
                </a:moveTo>
                <a:lnTo>
                  <a:pt x="5228158" y="0"/>
                </a:lnTo>
                <a:lnTo>
                  <a:pt x="5228158" y="489647"/>
                </a:lnTo>
                <a:lnTo>
                  <a:pt x="0" y="489647"/>
                </a:lnTo>
                <a:lnTo>
                  <a:pt x="0" y="0"/>
                </a:lnTo>
                <a:close/>
              </a:path>
            </a:pathLst>
          </a:custGeom>
          <a:blipFill>
            <a:blip r:embed="rId12"/>
            <a:stretch>
              <a:fillRect l="0" t="0" r="0" b="0"/>
            </a:stretch>
          </a:blipFill>
        </p:spPr>
      </p:sp>
      <p:sp>
        <p:nvSpPr>
          <p:cNvPr name="Freeform 12" id="12"/>
          <p:cNvSpPr/>
          <p:nvPr/>
        </p:nvSpPr>
        <p:spPr>
          <a:xfrm flipH="false" flipV="false" rot="0">
            <a:off x="6506909" y="9388292"/>
            <a:ext cx="6505241" cy="573081"/>
          </a:xfrm>
          <a:custGeom>
            <a:avLst/>
            <a:gdLst/>
            <a:ahLst/>
            <a:cxnLst/>
            <a:rect r="r" b="b" t="t" l="l"/>
            <a:pathLst>
              <a:path h="573081" w="6505241">
                <a:moveTo>
                  <a:pt x="0" y="0"/>
                </a:moveTo>
                <a:lnTo>
                  <a:pt x="6505241" y="0"/>
                </a:lnTo>
                <a:lnTo>
                  <a:pt x="6505241" y="573080"/>
                </a:lnTo>
                <a:lnTo>
                  <a:pt x="0" y="573080"/>
                </a:lnTo>
                <a:lnTo>
                  <a:pt x="0" y="0"/>
                </a:lnTo>
                <a:close/>
              </a:path>
            </a:pathLst>
          </a:custGeom>
          <a:blipFill>
            <a:blip r:embed="rId13"/>
            <a:stretch>
              <a:fillRect l="0" t="0" r="0" b="0"/>
            </a:stretch>
          </a:blipFill>
        </p:spPr>
      </p:sp>
      <p:sp>
        <p:nvSpPr>
          <p:cNvPr name="TextBox 13" id="13"/>
          <p:cNvSpPr txBox="true"/>
          <p:nvPr/>
        </p:nvSpPr>
        <p:spPr>
          <a:xfrm rot="0">
            <a:off x="1632972" y="1510593"/>
            <a:ext cx="403117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Rule yang dianalisis:</a:t>
            </a:r>
          </a:p>
        </p:txBody>
      </p:sp>
      <p:sp>
        <p:nvSpPr>
          <p:cNvPr name="TextBox 14" id="14"/>
          <p:cNvSpPr txBox="true"/>
          <p:nvPr/>
        </p:nvSpPr>
        <p:spPr>
          <a:xfrm rot="0">
            <a:off x="1632972" y="222921"/>
            <a:ext cx="7511028" cy="1100149"/>
          </a:xfrm>
          <a:prstGeom prst="rect">
            <a:avLst/>
          </a:prstGeom>
        </p:spPr>
        <p:txBody>
          <a:bodyPr anchor="t" rtlCol="false" tIns="0" lIns="0" bIns="0" rIns="0">
            <a:spAutoFit/>
          </a:bodyPr>
          <a:lstStyle/>
          <a:p>
            <a:pPr algn="l">
              <a:lnSpc>
                <a:spcPts val="8992"/>
              </a:lnSpc>
            </a:pPr>
            <a:r>
              <a:rPr lang="en-US" sz="6423">
                <a:solidFill>
                  <a:srgbClr val="90606B"/>
                </a:solidFill>
                <a:latin typeface="Carelia"/>
                <a:ea typeface="Carelia"/>
                <a:cs typeface="Carelia"/>
                <a:sym typeface="Carelia"/>
              </a:rPr>
              <a:t>Resolusi (Teori)</a:t>
            </a:r>
          </a:p>
        </p:txBody>
      </p:sp>
      <p:sp>
        <p:nvSpPr>
          <p:cNvPr name="TextBox 15" id="15"/>
          <p:cNvSpPr txBox="true"/>
          <p:nvPr/>
        </p:nvSpPr>
        <p:spPr>
          <a:xfrm rot="0">
            <a:off x="5924018" y="1547902"/>
            <a:ext cx="7178869" cy="1462405"/>
          </a:xfrm>
          <a:prstGeom prst="rect">
            <a:avLst/>
          </a:prstGeom>
        </p:spPr>
        <p:txBody>
          <a:bodyPr anchor="t" rtlCol="false" tIns="0" lIns="0" bIns="0" rIns="0">
            <a:spAutoFit/>
          </a:bodyPr>
          <a:lstStyle/>
          <a:p>
            <a:pPr algn="l">
              <a:lnSpc>
                <a:spcPts val="3920"/>
              </a:lnSpc>
            </a:pPr>
            <a:r>
              <a:rPr lang="en-US" sz="2800" b="true">
                <a:solidFill>
                  <a:srgbClr val="90606B"/>
                </a:solidFill>
                <a:latin typeface="Muli Bold"/>
                <a:ea typeface="Muli Bold"/>
                <a:cs typeface="Muli Bold"/>
                <a:sym typeface="Muli Bold"/>
              </a:rPr>
              <a:t>Rule 8 : Perlu Penjadwalan Ulang</a:t>
            </a:r>
          </a:p>
          <a:p>
            <a:pPr algn="l">
              <a:lnSpc>
                <a:spcPts val="3920"/>
              </a:lnSpc>
            </a:pPr>
            <a:r>
              <a:rPr lang="en-US" sz="2800" b="true">
                <a:solidFill>
                  <a:srgbClr val="90606B"/>
                </a:solidFill>
                <a:latin typeface="Muli Bold"/>
                <a:ea typeface="Muli Bold"/>
                <a:cs typeface="Muli Bold"/>
                <a:sym typeface="Muli Bold"/>
              </a:rPr>
              <a:t>perlu_penjadwalan_ulang(K) :-</a:t>
            </a:r>
          </a:p>
          <a:p>
            <a:pPr algn="l">
              <a:lnSpc>
                <a:spcPts val="3920"/>
              </a:lnSpc>
            </a:pPr>
            <a:r>
              <a:rPr lang="en-US" sz="2800" b="true">
                <a:solidFill>
                  <a:srgbClr val="90606B"/>
                </a:solidFill>
                <a:latin typeface="Muli Bold"/>
                <a:ea typeface="Muli Bold"/>
                <a:cs typeface="Muli Bold"/>
                <a:sym typeface="Muli Bold"/>
              </a:rPr>
              <a:t>  jadwal_bermasalah(K).</a:t>
            </a:r>
          </a:p>
        </p:txBody>
      </p:sp>
      <p:sp>
        <p:nvSpPr>
          <p:cNvPr name="TextBox 16" id="16"/>
          <p:cNvSpPr txBox="true"/>
          <p:nvPr/>
        </p:nvSpPr>
        <p:spPr>
          <a:xfrm rot="0">
            <a:off x="1632972" y="3276616"/>
            <a:ext cx="3217781"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Bentuk FOL:</a:t>
            </a:r>
          </a:p>
        </p:txBody>
      </p:sp>
      <p:sp>
        <p:nvSpPr>
          <p:cNvPr name="TextBox 17" id="17"/>
          <p:cNvSpPr txBox="true"/>
          <p:nvPr/>
        </p:nvSpPr>
        <p:spPr>
          <a:xfrm rot="0">
            <a:off x="1632972" y="4161217"/>
            <a:ext cx="357663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Eliminasi Implikasi:</a:t>
            </a:r>
          </a:p>
        </p:txBody>
      </p:sp>
      <p:sp>
        <p:nvSpPr>
          <p:cNvPr name="TextBox 18" id="18"/>
          <p:cNvSpPr txBox="true"/>
          <p:nvPr/>
        </p:nvSpPr>
        <p:spPr>
          <a:xfrm rot="0">
            <a:off x="1632972" y="5180076"/>
            <a:ext cx="302639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Clausal Form:</a:t>
            </a:r>
          </a:p>
        </p:txBody>
      </p:sp>
      <p:sp>
        <p:nvSpPr>
          <p:cNvPr name="TextBox 19" id="19"/>
          <p:cNvSpPr txBox="true"/>
          <p:nvPr/>
        </p:nvSpPr>
        <p:spPr>
          <a:xfrm rot="0">
            <a:off x="1632972" y="6167227"/>
            <a:ext cx="302639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Negasi Tujuan:</a:t>
            </a:r>
          </a:p>
        </p:txBody>
      </p:sp>
      <p:sp>
        <p:nvSpPr>
          <p:cNvPr name="TextBox 20" id="20"/>
          <p:cNvSpPr txBox="true"/>
          <p:nvPr/>
        </p:nvSpPr>
        <p:spPr>
          <a:xfrm rot="0">
            <a:off x="1632972" y="7075723"/>
            <a:ext cx="7428675" cy="658212"/>
          </a:xfrm>
          <a:prstGeom prst="rect">
            <a:avLst/>
          </a:prstGeom>
        </p:spPr>
        <p:txBody>
          <a:bodyPr anchor="t" rtlCol="false" tIns="0" lIns="0" bIns="0" rIns="0">
            <a:spAutoFit/>
          </a:bodyPr>
          <a:lstStyle/>
          <a:p>
            <a:pPr algn="l">
              <a:lnSpc>
                <a:spcPts val="5346"/>
              </a:lnSpc>
            </a:pPr>
            <a:r>
              <a:rPr lang="en-US" sz="3818" b="true">
                <a:solidFill>
                  <a:srgbClr val="90606B"/>
                </a:solidFill>
                <a:latin typeface="Muli Bold"/>
                <a:ea typeface="Muli Bold"/>
                <a:cs typeface="Muli Bold"/>
                <a:sym typeface="Muli Bold"/>
              </a:rPr>
              <a:t>Himpunan Klausa:</a:t>
            </a:r>
          </a:p>
        </p:txBody>
      </p:sp>
      <p:sp>
        <p:nvSpPr>
          <p:cNvPr name="TextBox 21" id="21"/>
          <p:cNvSpPr txBox="true"/>
          <p:nvPr/>
        </p:nvSpPr>
        <p:spPr>
          <a:xfrm rot="0">
            <a:off x="3503467" y="7902931"/>
            <a:ext cx="4548076"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Klausa hasil CNF Rule 8:</a:t>
            </a:r>
          </a:p>
        </p:txBody>
      </p:sp>
      <p:sp>
        <p:nvSpPr>
          <p:cNvPr name="TextBox 22" id="22"/>
          <p:cNvSpPr txBox="true"/>
          <p:nvPr/>
        </p:nvSpPr>
        <p:spPr>
          <a:xfrm rot="0">
            <a:off x="3503467" y="8634918"/>
            <a:ext cx="6256062"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Fakta hasil inferensi sebelumnya:</a:t>
            </a:r>
          </a:p>
        </p:txBody>
      </p:sp>
      <p:sp>
        <p:nvSpPr>
          <p:cNvPr name="TextBox 23" id="23"/>
          <p:cNvSpPr txBox="true"/>
          <p:nvPr/>
        </p:nvSpPr>
        <p:spPr>
          <a:xfrm rot="0">
            <a:off x="3503467" y="9435917"/>
            <a:ext cx="3128031"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Negasi tujuan: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533371">
            <a:off x="11606643" y="-553834"/>
            <a:ext cx="6906488" cy="6598573"/>
          </a:xfrm>
          <a:custGeom>
            <a:avLst/>
            <a:gdLst/>
            <a:ahLst/>
            <a:cxnLst/>
            <a:rect r="r" b="b" t="t" l="l"/>
            <a:pathLst>
              <a:path h="6598573" w="6906488">
                <a:moveTo>
                  <a:pt x="6906487" y="6598573"/>
                </a:moveTo>
                <a:lnTo>
                  <a:pt x="0" y="6598573"/>
                </a:lnTo>
                <a:lnTo>
                  <a:pt x="0" y="0"/>
                </a:lnTo>
                <a:lnTo>
                  <a:pt x="6906487" y="0"/>
                </a:lnTo>
                <a:lnTo>
                  <a:pt x="6906487" y="6598573"/>
                </a:lnTo>
                <a:close/>
              </a:path>
            </a:pathLst>
          </a:custGeom>
          <a:blipFill>
            <a:blip r:embed="rId2"/>
            <a:stretch>
              <a:fillRect l="0" t="0" r="0" b="0"/>
            </a:stretch>
          </a:blipFill>
        </p:spPr>
      </p:sp>
      <p:sp>
        <p:nvSpPr>
          <p:cNvPr name="Freeform 3" id="3"/>
          <p:cNvSpPr/>
          <p:nvPr/>
        </p:nvSpPr>
        <p:spPr>
          <a:xfrm flipH="false" flipV="false" rot="0">
            <a:off x="373492" y="817140"/>
            <a:ext cx="913292" cy="930205"/>
          </a:xfrm>
          <a:custGeom>
            <a:avLst/>
            <a:gdLst/>
            <a:ahLst/>
            <a:cxnLst/>
            <a:rect r="r" b="b" t="t" l="l"/>
            <a:pathLst>
              <a:path h="930205" w="913292">
                <a:moveTo>
                  <a:pt x="0" y="0"/>
                </a:moveTo>
                <a:lnTo>
                  <a:pt x="913292" y="0"/>
                </a:lnTo>
                <a:lnTo>
                  <a:pt x="913292" y="930205"/>
                </a:lnTo>
                <a:lnTo>
                  <a:pt x="0" y="9302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975199" y="8948492"/>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765577" y="3135978"/>
            <a:ext cx="12237762" cy="724604"/>
          </a:xfrm>
          <a:custGeom>
            <a:avLst/>
            <a:gdLst/>
            <a:ahLst/>
            <a:cxnLst/>
            <a:rect r="r" b="b" t="t" l="l"/>
            <a:pathLst>
              <a:path h="724604" w="12237762">
                <a:moveTo>
                  <a:pt x="0" y="0"/>
                </a:moveTo>
                <a:lnTo>
                  <a:pt x="12237762" y="0"/>
                </a:lnTo>
                <a:lnTo>
                  <a:pt x="12237762" y="724604"/>
                </a:lnTo>
                <a:lnTo>
                  <a:pt x="0" y="724604"/>
                </a:lnTo>
                <a:lnTo>
                  <a:pt x="0" y="0"/>
                </a:lnTo>
                <a:close/>
              </a:path>
            </a:pathLst>
          </a:custGeom>
          <a:blipFill>
            <a:blip r:embed="rId7"/>
            <a:stretch>
              <a:fillRect l="0" t="0" r="0" b="0"/>
            </a:stretch>
          </a:blipFill>
        </p:spPr>
      </p:sp>
      <p:sp>
        <p:nvSpPr>
          <p:cNvPr name="Freeform 7" id="7"/>
          <p:cNvSpPr/>
          <p:nvPr/>
        </p:nvSpPr>
        <p:spPr>
          <a:xfrm flipH="false" flipV="false" rot="0">
            <a:off x="1671129" y="3967108"/>
            <a:ext cx="7109412" cy="699808"/>
          </a:xfrm>
          <a:custGeom>
            <a:avLst/>
            <a:gdLst/>
            <a:ahLst/>
            <a:cxnLst/>
            <a:rect r="r" b="b" t="t" l="l"/>
            <a:pathLst>
              <a:path h="699808" w="7109412">
                <a:moveTo>
                  <a:pt x="0" y="0"/>
                </a:moveTo>
                <a:lnTo>
                  <a:pt x="7109412" y="0"/>
                </a:lnTo>
                <a:lnTo>
                  <a:pt x="7109412" y="699808"/>
                </a:lnTo>
                <a:lnTo>
                  <a:pt x="0" y="699808"/>
                </a:lnTo>
                <a:lnTo>
                  <a:pt x="0" y="0"/>
                </a:lnTo>
                <a:close/>
              </a:path>
            </a:pathLst>
          </a:custGeom>
          <a:blipFill>
            <a:blip r:embed="rId8"/>
            <a:stretch>
              <a:fillRect l="0" t="0" r="0" b="0"/>
            </a:stretch>
          </a:blipFill>
        </p:spPr>
      </p:sp>
      <p:sp>
        <p:nvSpPr>
          <p:cNvPr name="Freeform 8" id="8"/>
          <p:cNvSpPr/>
          <p:nvPr/>
        </p:nvSpPr>
        <p:spPr>
          <a:xfrm flipH="false" flipV="false" rot="0">
            <a:off x="3940867" y="4990766"/>
            <a:ext cx="5943590" cy="588002"/>
          </a:xfrm>
          <a:custGeom>
            <a:avLst/>
            <a:gdLst/>
            <a:ahLst/>
            <a:cxnLst/>
            <a:rect r="r" b="b" t="t" l="l"/>
            <a:pathLst>
              <a:path h="588002" w="5943590">
                <a:moveTo>
                  <a:pt x="0" y="0"/>
                </a:moveTo>
                <a:lnTo>
                  <a:pt x="5943591" y="0"/>
                </a:lnTo>
                <a:lnTo>
                  <a:pt x="5943591" y="588002"/>
                </a:lnTo>
                <a:lnTo>
                  <a:pt x="0" y="588002"/>
                </a:lnTo>
                <a:lnTo>
                  <a:pt x="0" y="0"/>
                </a:lnTo>
                <a:close/>
              </a:path>
            </a:pathLst>
          </a:custGeom>
          <a:blipFill>
            <a:blip r:embed="rId9"/>
            <a:stretch>
              <a:fillRect l="0" t="0" r="0" b="0"/>
            </a:stretch>
          </a:blipFill>
        </p:spPr>
      </p:sp>
      <p:sp>
        <p:nvSpPr>
          <p:cNvPr name="Freeform 9" id="9"/>
          <p:cNvSpPr/>
          <p:nvPr/>
        </p:nvSpPr>
        <p:spPr>
          <a:xfrm flipH="false" flipV="false" rot="0">
            <a:off x="7466460" y="5854993"/>
            <a:ext cx="5621172" cy="763570"/>
          </a:xfrm>
          <a:custGeom>
            <a:avLst/>
            <a:gdLst/>
            <a:ahLst/>
            <a:cxnLst/>
            <a:rect r="r" b="b" t="t" l="l"/>
            <a:pathLst>
              <a:path h="763570" w="5621172">
                <a:moveTo>
                  <a:pt x="0" y="0"/>
                </a:moveTo>
                <a:lnTo>
                  <a:pt x="5621172" y="0"/>
                </a:lnTo>
                <a:lnTo>
                  <a:pt x="5621172" y="763569"/>
                </a:lnTo>
                <a:lnTo>
                  <a:pt x="0" y="763569"/>
                </a:lnTo>
                <a:lnTo>
                  <a:pt x="0" y="0"/>
                </a:lnTo>
                <a:close/>
              </a:path>
            </a:pathLst>
          </a:custGeom>
          <a:blipFill>
            <a:blip r:embed="rId10"/>
            <a:stretch>
              <a:fillRect l="0" t="0" r="0" b="0"/>
            </a:stretch>
          </a:blipFill>
        </p:spPr>
      </p:sp>
      <p:sp>
        <p:nvSpPr>
          <p:cNvPr name="TextBox 10" id="10"/>
          <p:cNvSpPr txBox="true"/>
          <p:nvPr/>
        </p:nvSpPr>
        <p:spPr>
          <a:xfrm rot="0">
            <a:off x="1028700" y="3212530"/>
            <a:ext cx="403117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Resolusi antara:</a:t>
            </a:r>
          </a:p>
        </p:txBody>
      </p:sp>
      <p:sp>
        <p:nvSpPr>
          <p:cNvPr name="TextBox 11" id="11"/>
          <p:cNvSpPr txBox="true"/>
          <p:nvPr/>
        </p:nvSpPr>
        <p:spPr>
          <a:xfrm rot="0">
            <a:off x="1601554" y="796592"/>
            <a:ext cx="7511028" cy="1100149"/>
          </a:xfrm>
          <a:prstGeom prst="rect">
            <a:avLst/>
          </a:prstGeom>
        </p:spPr>
        <p:txBody>
          <a:bodyPr anchor="t" rtlCol="false" tIns="0" lIns="0" bIns="0" rIns="0">
            <a:spAutoFit/>
          </a:bodyPr>
          <a:lstStyle/>
          <a:p>
            <a:pPr algn="l">
              <a:lnSpc>
                <a:spcPts val="8992"/>
              </a:lnSpc>
            </a:pPr>
            <a:r>
              <a:rPr lang="en-US" sz="6423">
                <a:solidFill>
                  <a:srgbClr val="90606B"/>
                </a:solidFill>
                <a:latin typeface="Carelia"/>
                <a:ea typeface="Carelia"/>
                <a:cs typeface="Carelia"/>
                <a:sym typeface="Carelia"/>
              </a:rPr>
              <a:t>Resolusi (Teori)</a:t>
            </a:r>
          </a:p>
        </p:txBody>
      </p:sp>
      <p:sp>
        <p:nvSpPr>
          <p:cNvPr name="TextBox 12" id="12"/>
          <p:cNvSpPr txBox="true"/>
          <p:nvPr/>
        </p:nvSpPr>
        <p:spPr>
          <a:xfrm rot="0">
            <a:off x="1028700" y="2182491"/>
            <a:ext cx="7428675" cy="658212"/>
          </a:xfrm>
          <a:prstGeom prst="rect">
            <a:avLst/>
          </a:prstGeom>
        </p:spPr>
        <p:txBody>
          <a:bodyPr anchor="t" rtlCol="false" tIns="0" lIns="0" bIns="0" rIns="0">
            <a:spAutoFit/>
          </a:bodyPr>
          <a:lstStyle/>
          <a:p>
            <a:pPr algn="l">
              <a:lnSpc>
                <a:spcPts val="5346"/>
              </a:lnSpc>
            </a:pPr>
            <a:r>
              <a:rPr lang="en-US" sz="3818" b="true">
                <a:solidFill>
                  <a:srgbClr val="90606B"/>
                </a:solidFill>
                <a:latin typeface="Muli Bold"/>
                <a:ea typeface="Muli Bold"/>
                <a:cs typeface="Muli Bold"/>
                <a:sym typeface="Muli Bold"/>
              </a:rPr>
              <a:t>Proses Resolusi</a:t>
            </a:r>
          </a:p>
        </p:txBody>
      </p:sp>
      <p:sp>
        <p:nvSpPr>
          <p:cNvPr name="TextBox 13" id="13"/>
          <p:cNvSpPr txBox="true"/>
          <p:nvPr/>
        </p:nvSpPr>
        <p:spPr>
          <a:xfrm rot="0">
            <a:off x="1066857" y="4152566"/>
            <a:ext cx="403117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dan</a:t>
            </a:r>
          </a:p>
        </p:txBody>
      </p:sp>
      <p:sp>
        <p:nvSpPr>
          <p:cNvPr name="TextBox 14" id="14"/>
          <p:cNvSpPr txBox="true"/>
          <p:nvPr/>
        </p:nvSpPr>
        <p:spPr>
          <a:xfrm rot="0">
            <a:off x="1066857" y="5019675"/>
            <a:ext cx="403117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menghasilkan:</a:t>
            </a:r>
          </a:p>
        </p:txBody>
      </p:sp>
      <p:sp>
        <p:nvSpPr>
          <p:cNvPr name="TextBox 15" id="15"/>
          <p:cNvSpPr txBox="true"/>
          <p:nvPr/>
        </p:nvSpPr>
        <p:spPr>
          <a:xfrm rot="0">
            <a:off x="1066857" y="5919100"/>
            <a:ext cx="639960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Resolusi lanjutan dengan klausa:</a:t>
            </a:r>
          </a:p>
        </p:txBody>
      </p:sp>
      <p:sp>
        <p:nvSpPr>
          <p:cNvPr name="TextBox 16" id="16"/>
          <p:cNvSpPr txBox="true"/>
          <p:nvPr/>
        </p:nvSpPr>
        <p:spPr>
          <a:xfrm rot="0">
            <a:off x="1028700" y="6795400"/>
            <a:ext cx="6399603"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Menghasilkan klausa kosong.</a:t>
            </a:r>
          </a:p>
        </p:txBody>
      </p:sp>
      <p:sp>
        <p:nvSpPr>
          <p:cNvPr name="TextBox 17" id="17"/>
          <p:cNvSpPr txBox="true"/>
          <p:nvPr/>
        </p:nvSpPr>
        <p:spPr>
          <a:xfrm rot="0">
            <a:off x="6912663" y="7995550"/>
            <a:ext cx="9496163" cy="15811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Dapat disimpulkan secara formal bahwa perlu_penjadwalan_ulang(kelasA) terbukti benar secara logis melalui metode resolusi.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false" flipV="true" rot="0">
            <a:off x="-2926850" y="0"/>
            <a:ext cx="10721300" cy="11912555"/>
          </a:xfrm>
          <a:custGeom>
            <a:avLst/>
            <a:gdLst/>
            <a:ahLst/>
            <a:cxnLst/>
            <a:rect r="r" b="b" t="t" l="l"/>
            <a:pathLst>
              <a:path h="11912555" w="10721300">
                <a:moveTo>
                  <a:pt x="0" y="11912555"/>
                </a:moveTo>
                <a:lnTo>
                  <a:pt x="10721299" y="11912555"/>
                </a:lnTo>
                <a:lnTo>
                  <a:pt x="10721299" y="0"/>
                </a:lnTo>
                <a:lnTo>
                  <a:pt x="0" y="0"/>
                </a:lnTo>
                <a:lnTo>
                  <a:pt x="0" y="11912555"/>
                </a:lnTo>
                <a:close/>
              </a:path>
            </a:pathLst>
          </a:custGeom>
          <a:blipFill>
            <a:blip r:embed="rId2"/>
            <a:stretch>
              <a:fillRect l="0" t="0" r="0" b="0"/>
            </a:stretch>
          </a:blipFill>
        </p:spPr>
      </p:sp>
      <p:sp>
        <p:nvSpPr>
          <p:cNvPr name="Freeform 3" id="3"/>
          <p:cNvSpPr/>
          <p:nvPr/>
        </p:nvSpPr>
        <p:spPr>
          <a:xfrm flipH="true" flipV="false" rot="0">
            <a:off x="13709598" y="3653953"/>
            <a:ext cx="5969742" cy="6633047"/>
          </a:xfrm>
          <a:custGeom>
            <a:avLst/>
            <a:gdLst/>
            <a:ahLst/>
            <a:cxnLst/>
            <a:rect r="r" b="b" t="t" l="l"/>
            <a:pathLst>
              <a:path h="6633047" w="5969742">
                <a:moveTo>
                  <a:pt x="5969743" y="0"/>
                </a:moveTo>
                <a:lnTo>
                  <a:pt x="0" y="0"/>
                </a:lnTo>
                <a:lnTo>
                  <a:pt x="0" y="6633047"/>
                </a:lnTo>
                <a:lnTo>
                  <a:pt x="5969743" y="6633047"/>
                </a:lnTo>
                <a:lnTo>
                  <a:pt x="5969743" y="0"/>
                </a:lnTo>
                <a:close/>
              </a:path>
            </a:pathLst>
          </a:custGeom>
          <a:blipFill>
            <a:blip r:embed="rId2"/>
            <a:stretch>
              <a:fillRect l="0" t="0" r="0" b="0"/>
            </a:stretch>
          </a:blipFill>
        </p:spPr>
      </p:sp>
      <p:sp>
        <p:nvSpPr>
          <p:cNvPr name="Freeform 4" id="4"/>
          <p:cNvSpPr/>
          <p:nvPr/>
        </p:nvSpPr>
        <p:spPr>
          <a:xfrm flipH="false" flipV="false" rot="0">
            <a:off x="16694469"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374820" y="3051625"/>
            <a:ext cx="8710217" cy="2992349"/>
          </a:xfrm>
          <a:prstGeom prst="rect">
            <a:avLst/>
          </a:prstGeom>
        </p:spPr>
        <p:txBody>
          <a:bodyPr anchor="t" rtlCol="false" tIns="0" lIns="0" bIns="0" rIns="0">
            <a:spAutoFit/>
          </a:bodyPr>
          <a:lstStyle/>
          <a:p>
            <a:pPr algn="r">
              <a:lnSpc>
                <a:spcPts val="12037"/>
              </a:lnSpc>
            </a:pPr>
            <a:r>
              <a:rPr lang="en-US" sz="8598">
                <a:solidFill>
                  <a:srgbClr val="90606B"/>
                </a:solidFill>
                <a:latin typeface="Carelia"/>
                <a:ea typeface="Carelia"/>
                <a:cs typeface="Carelia"/>
                <a:sym typeface="Carelia"/>
              </a:rPr>
              <a:t>Hasil Inferensi dan Solusi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337361"/>
            <a:ext cx="823039" cy="838281"/>
          </a:xfrm>
          <a:custGeom>
            <a:avLst/>
            <a:gdLst/>
            <a:ahLst/>
            <a:cxnLst/>
            <a:rect r="r" b="b" t="t" l="l"/>
            <a:pathLst>
              <a:path h="838281" w="823039">
                <a:moveTo>
                  <a:pt x="0" y="0"/>
                </a:moveTo>
                <a:lnTo>
                  <a:pt x="823040" y="0"/>
                </a:lnTo>
                <a:lnTo>
                  <a:pt x="823040" y="838281"/>
                </a:lnTo>
                <a:lnTo>
                  <a:pt x="0" y="83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878493" y="2256561"/>
            <a:ext cx="12495138" cy="3373687"/>
          </a:xfrm>
          <a:custGeom>
            <a:avLst/>
            <a:gdLst/>
            <a:ahLst/>
            <a:cxnLst/>
            <a:rect r="r" b="b" t="t" l="l"/>
            <a:pathLst>
              <a:path h="3373687" w="12495138">
                <a:moveTo>
                  <a:pt x="0" y="0"/>
                </a:moveTo>
                <a:lnTo>
                  <a:pt x="12495137" y="0"/>
                </a:lnTo>
                <a:lnTo>
                  <a:pt x="12495137" y="3373688"/>
                </a:lnTo>
                <a:lnTo>
                  <a:pt x="0" y="3373688"/>
                </a:lnTo>
                <a:lnTo>
                  <a:pt x="0" y="0"/>
                </a:lnTo>
                <a:close/>
              </a:path>
            </a:pathLst>
          </a:custGeom>
          <a:blipFill>
            <a:blip r:embed="rId7"/>
            <a:stretch>
              <a:fillRect l="0" t="0" r="0" b="0"/>
            </a:stretch>
          </a:blipFill>
        </p:spPr>
      </p:sp>
      <p:sp>
        <p:nvSpPr>
          <p:cNvPr name="Freeform 7" id="7"/>
          <p:cNvSpPr/>
          <p:nvPr/>
        </p:nvSpPr>
        <p:spPr>
          <a:xfrm flipH="false" flipV="false" rot="0">
            <a:off x="1878493" y="6553174"/>
            <a:ext cx="13033689" cy="3372467"/>
          </a:xfrm>
          <a:custGeom>
            <a:avLst/>
            <a:gdLst/>
            <a:ahLst/>
            <a:cxnLst/>
            <a:rect r="r" b="b" t="t" l="l"/>
            <a:pathLst>
              <a:path h="3372467" w="13033689">
                <a:moveTo>
                  <a:pt x="0" y="0"/>
                </a:moveTo>
                <a:lnTo>
                  <a:pt x="13033688" y="0"/>
                </a:lnTo>
                <a:lnTo>
                  <a:pt x="13033688" y="3372467"/>
                </a:lnTo>
                <a:lnTo>
                  <a:pt x="0" y="3372467"/>
                </a:lnTo>
                <a:lnTo>
                  <a:pt x="0" y="0"/>
                </a:lnTo>
                <a:close/>
              </a:path>
            </a:pathLst>
          </a:custGeom>
          <a:blipFill>
            <a:blip r:embed="rId8"/>
            <a:stretch>
              <a:fillRect l="0" t="0" r="0" b="0"/>
            </a:stretch>
          </a:blipFill>
        </p:spPr>
      </p:sp>
      <p:sp>
        <p:nvSpPr>
          <p:cNvPr name="TextBox 8" id="8"/>
          <p:cNvSpPr txBox="true"/>
          <p:nvPr/>
        </p:nvSpPr>
        <p:spPr>
          <a:xfrm rot="0">
            <a:off x="1659211" y="213536"/>
            <a:ext cx="7484789" cy="1096738"/>
          </a:xfrm>
          <a:prstGeom prst="rect">
            <a:avLst/>
          </a:prstGeom>
        </p:spPr>
        <p:txBody>
          <a:bodyPr anchor="t" rtlCol="false" tIns="0" lIns="0" bIns="0" rIns="0">
            <a:spAutoFit/>
          </a:bodyPr>
          <a:lstStyle/>
          <a:p>
            <a:pPr algn="l">
              <a:lnSpc>
                <a:spcPts val="8960"/>
              </a:lnSpc>
            </a:pPr>
            <a:r>
              <a:rPr lang="en-US" sz="6400">
                <a:solidFill>
                  <a:srgbClr val="90606B"/>
                </a:solidFill>
                <a:latin typeface="Carelia"/>
                <a:ea typeface="Carelia"/>
                <a:cs typeface="Carelia"/>
                <a:sym typeface="Carelia"/>
              </a:rPr>
              <a:t>Hasil Uji Wajib</a:t>
            </a:r>
          </a:p>
        </p:txBody>
      </p:sp>
      <p:sp>
        <p:nvSpPr>
          <p:cNvPr name="TextBox 9" id="9"/>
          <p:cNvSpPr txBox="true"/>
          <p:nvPr/>
        </p:nvSpPr>
        <p:spPr>
          <a:xfrm rot="0">
            <a:off x="1375547" y="1444634"/>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1. Query: Apakah ruangan bentrok? (ruang &amp; waktu sama)</a:t>
            </a:r>
          </a:p>
        </p:txBody>
      </p:sp>
      <p:sp>
        <p:nvSpPr>
          <p:cNvPr name="TextBox 10" id="10"/>
          <p:cNvSpPr txBox="true"/>
          <p:nvPr/>
        </p:nvSpPr>
        <p:spPr>
          <a:xfrm rot="0">
            <a:off x="1375547" y="5868331"/>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2. Query: Apakah ruangan tidak bisa dipakai?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337361"/>
            <a:ext cx="823039" cy="838281"/>
          </a:xfrm>
          <a:custGeom>
            <a:avLst/>
            <a:gdLst/>
            <a:ahLst/>
            <a:cxnLst/>
            <a:rect r="r" b="b" t="t" l="l"/>
            <a:pathLst>
              <a:path h="838281" w="823039">
                <a:moveTo>
                  <a:pt x="0" y="0"/>
                </a:moveTo>
                <a:lnTo>
                  <a:pt x="823040" y="0"/>
                </a:lnTo>
                <a:lnTo>
                  <a:pt x="823040" y="838281"/>
                </a:lnTo>
                <a:lnTo>
                  <a:pt x="0" y="83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59211" y="2149484"/>
            <a:ext cx="13669627" cy="3485755"/>
          </a:xfrm>
          <a:custGeom>
            <a:avLst/>
            <a:gdLst/>
            <a:ahLst/>
            <a:cxnLst/>
            <a:rect r="r" b="b" t="t" l="l"/>
            <a:pathLst>
              <a:path h="3485755" w="13669627">
                <a:moveTo>
                  <a:pt x="0" y="0"/>
                </a:moveTo>
                <a:lnTo>
                  <a:pt x="13669627" y="0"/>
                </a:lnTo>
                <a:lnTo>
                  <a:pt x="13669627" y="3485755"/>
                </a:lnTo>
                <a:lnTo>
                  <a:pt x="0" y="3485755"/>
                </a:lnTo>
                <a:lnTo>
                  <a:pt x="0" y="0"/>
                </a:lnTo>
                <a:close/>
              </a:path>
            </a:pathLst>
          </a:custGeom>
          <a:blipFill>
            <a:blip r:embed="rId7"/>
            <a:stretch>
              <a:fillRect l="0" t="0" r="0" b="0"/>
            </a:stretch>
          </a:blipFill>
        </p:spPr>
      </p:sp>
      <p:sp>
        <p:nvSpPr>
          <p:cNvPr name="Freeform 7" id="7"/>
          <p:cNvSpPr/>
          <p:nvPr/>
        </p:nvSpPr>
        <p:spPr>
          <a:xfrm flipH="false" flipV="false" rot="0">
            <a:off x="1659211" y="6573181"/>
            <a:ext cx="12648807" cy="3510044"/>
          </a:xfrm>
          <a:custGeom>
            <a:avLst/>
            <a:gdLst/>
            <a:ahLst/>
            <a:cxnLst/>
            <a:rect r="r" b="b" t="t" l="l"/>
            <a:pathLst>
              <a:path h="3510044" w="12648807">
                <a:moveTo>
                  <a:pt x="0" y="0"/>
                </a:moveTo>
                <a:lnTo>
                  <a:pt x="12648807" y="0"/>
                </a:lnTo>
                <a:lnTo>
                  <a:pt x="12648807" y="3510044"/>
                </a:lnTo>
                <a:lnTo>
                  <a:pt x="0" y="3510044"/>
                </a:lnTo>
                <a:lnTo>
                  <a:pt x="0" y="0"/>
                </a:lnTo>
                <a:close/>
              </a:path>
            </a:pathLst>
          </a:custGeom>
          <a:blipFill>
            <a:blip r:embed="rId8"/>
            <a:stretch>
              <a:fillRect l="0" t="0" r="0" b="0"/>
            </a:stretch>
          </a:blipFill>
        </p:spPr>
      </p:sp>
      <p:sp>
        <p:nvSpPr>
          <p:cNvPr name="TextBox 8" id="8"/>
          <p:cNvSpPr txBox="true"/>
          <p:nvPr/>
        </p:nvSpPr>
        <p:spPr>
          <a:xfrm rot="0">
            <a:off x="1659211" y="213536"/>
            <a:ext cx="7484789" cy="1096738"/>
          </a:xfrm>
          <a:prstGeom prst="rect">
            <a:avLst/>
          </a:prstGeom>
        </p:spPr>
        <p:txBody>
          <a:bodyPr anchor="t" rtlCol="false" tIns="0" lIns="0" bIns="0" rIns="0">
            <a:spAutoFit/>
          </a:bodyPr>
          <a:lstStyle/>
          <a:p>
            <a:pPr algn="l">
              <a:lnSpc>
                <a:spcPts val="8960"/>
              </a:lnSpc>
            </a:pPr>
            <a:r>
              <a:rPr lang="en-US" sz="6400">
                <a:solidFill>
                  <a:srgbClr val="90606B"/>
                </a:solidFill>
                <a:latin typeface="Carelia"/>
                <a:ea typeface="Carelia"/>
                <a:cs typeface="Carelia"/>
                <a:sym typeface="Carelia"/>
              </a:rPr>
              <a:t>Hasil Uji Wajib</a:t>
            </a:r>
          </a:p>
        </p:txBody>
      </p:sp>
      <p:sp>
        <p:nvSpPr>
          <p:cNvPr name="TextBox 9" id="9"/>
          <p:cNvSpPr txBox="true"/>
          <p:nvPr/>
        </p:nvSpPr>
        <p:spPr>
          <a:xfrm rot="0">
            <a:off x="1375547" y="1444634"/>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3. Query: Apakah kekurangan ruangan(per prodi-tingkat)?</a:t>
            </a:r>
          </a:p>
        </p:txBody>
      </p:sp>
      <p:sp>
        <p:nvSpPr>
          <p:cNvPr name="TextBox 10" id="10"/>
          <p:cNvSpPr txBox="true"/>
          <p:nvPr/>
        </p:nvSpPr>
        <p:spPr>
          <a:xfrm rot="0">
            <a:off x="1375547" y="5868331"/>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4. Query: Adakah potensi bentrok?</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138280"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337361"/>
            <a:ext cx="823039" cy="838281"/>
          </a:xfrm>
          <a:custGeom>
            <a:avLst/>
            <a:gdLst/>
            <a:ahLst/>
            <a:cxnLst/>
            <a:rect r="r" b="b" t="t" l="l"/>
            <a:pathLst>
              <a:path h="838281" w="823039">
                <a:moveTo>
                  <a:pt x="0" y="0"/>
                </a:moveTo>
                <a:lnTo>
                  <a:pt x="823040" y="0"/>
                </a:lnTo>
                <a:lnTo>
                  <a:pt x="823040" y="838281"/>
                </a:lnTo>
                <a:lnTo>
                  <a:pt x="0" y="83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59211" y="2099271"/>
            <a:ext cx="13187177" cy="3544054"/>
          </a:xfrm>
          <a:custGeom>
            <a:avLst/>
            <a:gdLst/>
            <a:ahLst/>
            <a:cxnLst/>
            <a:rect r="r" b="b" t="t" l="l"/>
            <a:pathLst>
              <a:path h="3544054" w="13187177">
                <a:moveTo>
                  <a:pt x="0" y="0"/>
                </a:moveTo>
                <a:lnTo>
                  <a:pt x="13187177" y="0"/>
                </a:lnTo>
                <a:lnTo>
                  <a:pt x="13187177" y="3544054"/>
                </a:lnTo>
                <a:lnTo>
                  <a:pt x="0" y="3544054"/>
                </a:lnTo>
                <a:lnTo>
                  <a:pt x="0" y="0"/>
                </a:lnTo>
                <a:close/>
              </a:path>
            </a:pathLst>
          </a:custGeom>
          <a:blipFill>
            <a:blip r:embed="rId7"/>
            <a:stretch>
              <a:fillRect l="0" t="0" r="0" b="0"/>
            </a:stretch>
          </a:blipFill>
        </p:spPr>
      </p:sp>
      <p:sp>
        <p:nvSpPr>
          <p:cNvPr name="Freeform 7" id="7"/>
          <p:cNvSpPr/>
          <p:nvPr/>
        </p:nvSpPr>
        <p:spPr>
          <a:xfrm flipH="false" flipV="false" rot="0">
            <a:off x="1659211" y="6331464"/>
            <a:ext cx="11898467" cy="3867002"/>
          </a:xfrm>
          <a:custGeom>
            <a:avLst/>
            <a:gdLst/>
            <a:ahLst/>
            <a:cxnLst/>
            <a:rect r="r" b="b" t="t" l="l"/>
            <a:pathLst>
              <a:path h="3867002" w="11898467">
                <a:moveTo>
                  <a:pt x="0" y="0"/>
                </a:moveTo>
                <a:lnTo>
                  <a:pt x="11898467" y="0"/>
                </a:lnTo>
                <a:lnTo>
                  <a:pt x="11898467" y="3867001"/>
                </a:lnTo>
                <a:lnTo>
                  <a:pt x="0" y="3867001"/>
                </a:lnTo>
                <a:lnTo>
                  <a:pt x="0" y="0"/>
                </a:lnTo>
                <a:close/>
              </a:path>
            </a:pathLst>
          </a:custGeom>
          <a:blipFill>
            <a:blip r:embed="rId8"/>
            <a:stretch>
              <a:fillRect l="0" t="0" r="0" b="0"/>
            </a:stretch>
          </a:blipFill>
        </p:spPr>
      </p:sp>
      <p:sp>
        <p:nvSpPr>
          <p:cNvPr name="TextBox 8" id="8"/>
          <p:cNvSpPr txBox="true"/>
          <p:nvPr/>
        </p:nvSpPr>
        <p:spPr>
          <a:xfrm rot="0">
            <a:off x="1659211" y="213536"/>
            <a:ext cx="7484789" cy="1096738"/>
          </a:xfrm>
          <a:prstGeom prst="rect">
            <a:avLst/>
          </a:prstGeom>
        </p:spPr>
        <p:txBody>
          <a:bodyPr anchor="t" rtlCol="false" tIns="0" lIns="0" bIns="0" rIns="0">
            <a:spAutoFit/>
          </a:bodyPr>
          <a:lstStyle/>
          <a:p>
            <a:pPr algn="l">
              <a:lnSpc>
                <a:spcPts val="8960"/>
              </a:lnSpc>
            </a:pPr>
            <a:r>
              <a:rPr lang="en-US" sz="6400">
                <a:solidFill>
                  <a:srgbClr val="90606B"/>
                </a:solidFill>
                <a:latin typeface="Carelia"/>
                <a:ea typeface="Carelia"/>
                <a:cs typeface="Carelia"/>
                <a:sym typeface="Carelia"/>
              </a:rPr>
              <a:t>Hasil Uji Wajib</a:t>
            </a:r>
          </a:p>
        </p:txBody>
      </p:sp>
      <p:sp>
        <p:nvSpPr>
          <p:cNvPr name="TextBox 9" id="9"/>
          <p:cNvSpPr txBox="true"/>
          <p:nvPr/>
        </p:nvSpPr>
        <p:spPr>
          <a:xfrm rot="0">
            <a:off x="1375547" y="1444634"/>
            <a:ext cx="13863726"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5. Query: Apakah pengawas tidak bisa hadir untuk kelas yang ditugaskan?</a:t>
            </a:r>
          </a:p>
        </p:txBody>
      </p:sp>
      <p:sp>
        <p:nvSpPr>
          <p:cNvPr name="TextBox 10" id="10"/>
          <p:cNvSpPr txBox="true"/>
          <p:nvPr/>
        </p:nvSpPr>
        <p:spPr>
          <a:xfrm rot="0">
            <a:off x="1375547" y="5729050"/>
            <a:ext cx="14916359"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6. Query: Apakah kelas bermasalah? (bentrok atau ruang invalid)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337361"/>
            <a:ext cx="823039" cy="838281"/>
          </a:xfrm>
          <a:custGeom>
            <a:avLst/>
            <a:gdLst/>
            <a:ahLst/>
            <a:cxnLst/>
            <a:rect r="r" b="b" t="t" l="l"/>
            <a:pathLst>
              <a:path h="838281" w="823039">
                <a:moveTo>
                  <a:pt x="0" y="0"/>
                </a:moveTo>
                <a:lnTo>
                  <a:pt x="823040" y="0"/>
                </a:lnTo>
                <a:lnTo>
                  <a:pt x="823040" y="838281"/>
                </a:lnTo>
                <a:lnTo>
                  <a:pt x="0" y="83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68262" y="1842480"/>
            <a:ext cx="12460916" cy="3956341"/>
          </a:xfrm>
          <a:custGeom>
            <a:avLst/>
            <a:gdLst/>
            <a:ahLst/>
            <a:cxnLst/>
            <a:rect r="r" b="b" t="t" l="l"/>
            <a:pathLst>
              <a:path h="3956341" w="12460916">
                <a:moveTo>
                  <a:pt x="0" y="0"/>
                </a:moveTo>
                <a:lnTo>
                  <a:pt x="12460917" y="0"/>
                </a:lnTo>
                <a:lnTo>
                  <a:pt x="12460917" y="3956341"/>
                </a:lnTo>
                <a:lnTo>
                  <a:pt x="0" y="3956341"/>
                </a:lnTo>
                <a:lnTo>
                  <a:pt x="0" y="0"/>
                </a:lnTo>
                <a:close/>
              </a:path>
            </a:pathLst>
          </a:custGeom>
          <a:blipFill>
            <a:blip r:embed="rId7"/>
            <a:stretch>
              <a:fillRect l="0" t="0" r="0" b="0"/>
            </a:stretch>
          </a:blipFill>
        </p:spPr>
      </p:sp>
      <p:sp>
        <p:nvSpPr>
          <p:cNvPr name="Freeform 7" id="7"/>
          <p:cNvSpPr/>
          <p:nvPr/>
        </p:nvSpPr>
        <p:spPr>
          <a:xfrm flipH="false" flipV="false" rot="0">
            <a:off x="1659211" y="6382681"/>
            <a:ext cx="11831269" cy="3904319"/>
          </a:xfrm>
          <a:custGeom>
            <a:avLst/>
            <a:gdLst/>
            <a:ahLst/>
            <a:cxnLst/>
            <a:rect r="r" b="b" t="t" l="l"/>
            <a:pathLst>
              <a:path h="3904319" w="11831269">
                <a:moveTo>
                  <a:pt x="0" y="0"/>
                </a:moveTo>
                <a:lnTo>
                  <a:pt x="11831269" y="0"/>
                </a:lnTo>
                <a:lnTo>
                  <a:pt x="11831269" y="3904319"/>
                </a:lnTo>
                <a:lnTo>
                  <a:pt x="0" y="3904319"/>
                </a:lnTo>
                <a:lnTo>
                  <a:pt x="0" y="0"/>
                </a:lnTo>
                <a:close/>
              </a:path>
            </a:pathLst>
          </a:custGeom>
          <a:blipFill>
            <a:blip r:embed="rId8"/>
            <a:stretch>
              <a:fillRect l="0" t="0" r="0" b="0"/>
            </a:stretch>
          </a:blipFill>
        </p:spPr>
      </p:sp>
      <p:sp>
        <p:nvSpPr>
          <p:cNvPr name="TextBox 8" id="8"/>
          <p:cNvSpPr txBox="true"/>
          <p:nvPr/>
        </p:nvSpPr>
        <p:spPr>
          <a:xfrm rot="0">
            <a:off x="1659211" y="213536"/>
            <a:ext cx="7484789" cy="1096738"/>
          </a:xfrm>
          <a:prstGeom prst="rect">
            <a:avLst/>
          </a:prstGeom>
        </p:spPr>
        <p:txBody>
          <a:bodyPr anchor="t" rtlCol="false" tIns="0" lIns="0" bIns="0" rIns="0">
            <a:spAutoFit/>
          </a:bodyPr>
          <a:lstStyle/>
          <a:p>
            <a:pPr algn="l">
              <a:lnSpc>
                <a:spcPts val="8960"/>
              </a:lnSpc>
            </a:pPr>
            <a:r>
              <a:rPr lang="en-US" sz="6400">
                <a:solidFill>
                  <a:srgbClr val="90606B"/>
                </a:solidFill>
                <a:latin typeface="Carelia"/>
                <a:ea typeface="Carelia"/>
                <a:cs typeface="Carelia"/>
                <a:sym typeface="Carelia"/>
              </a:rPr>
              <a:t>Hasil Uji Wajib</a:t>
            </a:r>
          </a:p>
        </p:txBody>
      </p:sp>
      <p:sp>
        <p:nvSpPr>
          <p:cNvPr name="TextBox 9" id="9"/>
          <p:cNvSpPr txBox="true"/>
          <p:nvPr/>
        </p:nvSpPr>
        <p:spPr>
          <a:xfrm rot="0">
            <a:off x="1375547" y="1253124"/>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7. Query: Apakah jadwal bermasalah karena bentrok?</a:t>
            </a:r>
          </a:p>
        </p:txBody>
      </p:sp>
      <p:sp>
        <p:nvSpPr>
          <p:cNvPr name="TextBox 10" id="10"/>
          <p:cNvSpPr txBox="true"/>
          <p:nvPr/>
        </p:nvSpPr>
        <p:spPr>
          <a:xfrm rot="0">
            <a:off x="1375547" y="5868331"/>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8. Query: Perlukah penjadwalan ulang? (Rantai 3 Langkah)</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337361"/>
            <a:ext cx="823039" cy="838281"/>
          </a:xfrm>
          <a:custGeom>
            <a:avLst/>
            <a:gdLst/>
            <a:ahLst/>
            <a:cxnLst/>
            <a:rect r="r" b="b" t="t" l="l"/>
            <a:pathLst>
              <a:path h="838281" w="823039">
                <a:moveTo>
                  <a:pt x="0" y="0"/>
                </a:moveTo>
                <a:lnTo>
                  <a:pt x="823040" y="0"/>
                </a:lnTo>
                <a:lnTo>
                  <a:pt x="823040" y="838281"/>
                </a:lnTo>
                <a:lnTo>
                  <a:pt x="0" y="83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59211" y="2149484"/>
            <a:ext cx="13028115" cy="3550161"/>
          </a:xfrm>
          <a:custGeom>
            <a:avLst/>
            <a:gdLst/>
            <a:ahLst/>
            <a:cxnLst/>
            <a:rect r="r" b="b" t="t" l="l"/>
            <a:pathLst>
              <a:path h="3550161" w="13028115">
                <a:moveTo>
                  <a:pt x="0" y="0"/>
                </a:moveTo>
                <a:lnTo>
                  <a:pt x="13028115" y="0"/>
                </a:lnTo>
                <a:lnTo>
                  <a:pt x="13028115" y="3550162"/>
                </a:lnTo>
                <a:lnTo>
                  <a:pt x="0" y="3550162"/>
                </a:lnTo>
                <a:lnTo>
                  <a:pt x="0" y="0"/>
                </a:lnTo>
                <a:close/>
              </a:path>
            </a:pathLst>
          </a:custGeom>
          <a:blipFill>
            <a:blip r:embed="rId7"/>
            <a:stretch>
              <a:fillRect l="0" t="0" r="0" b="0"/>
            </a:stretch>
          </a:blipFill>
        </p:spPr>
      </p:sp>
      <p:sp>
        <p:nvSpPr>
          <p:cNvPr name="Freeform 7" id="7"/>
          <p:cNvSpPr/>
          <p:nvPr/>
        </p:nvSpPr>
        <p:spPr>
          <a:xfrm flipH="false" flipV="false" rot="0">
            <a:off x="4971131" y="5890146"/>
            <a:ext cx="8091107" cy="4237717"/>
          </a:xfrm>
          <a:custGeom>
            <a:avLst/>
            <a:gdLst/>
            <a:ahLst/>
            <a:cxnLst/>
            <a:rect r="r" b="b" t="t" l="l"/>
            <a:pathLst>
              <a:path h="4237717" w="8091107">
                <a:moveTo>
                  <a:pt x="0" y="0"/>
                </a:moveTo>
                <a:lnTo>
                  <a:pt x="8091106" y="0"/>
                </a:lnTo>
                <a:lnTo>
                  <a:pt x="8091106" y="4237717"/>
                </a:lnTo>
                <a:lnTo>
                  <a:pt x="0" y="4237717"/>
                </a:lnTo>
                <a:lnTo>
                  <a:pt x="0" y="0"/>
                </a:lnTo>
                <a:close/>
              </a:path>
            </a:pathLst>
          </a:custGeom>
          <a:blipFill>
            <a:blip r:embed="rId8"/>
            <a:stretch>
              <a:fillRect l="0" t="0" r="0" b="0"/>
            </a:stretch>
          </a:blipFill>
        </p:spPr>
      </p:sp>
      <p:sp>
        <p:nvSpPr>
          <p:cNvPr name="TextBox 8" id="8"/>
          <p:cNvSpPr txBox="true"/>
          <p:nvPr/>
        </p:nvSpPr>
        <p:spPr>
          <a:xfrm rot="0">
            <a:off x="1659211" y="213536"/>
            <a:ext cx="7484789" cy="1096738"/>
          </a:xfrm>
          <a:prstGeom prst="rect">
            <a:avLst/>
          </a:prstGeom>
        </p:spPr>
        <p:txBody>
          <a:bodyPr anchor="t" rtlCol="false" tIns="0" lIns="0" bIns="0" rIns="0">
            <a:spAutoFit/>
          </a:bodyPr>
          <a:lstStyle/>
          <a:p>
            <a:pPr algn="l">
              <a:lnSpc>
                <a:spcPts val="8960"/>
              </a:lnSpc>
            </a:pPr>
            <a:r>
              <a:rPr lang="en-US" sz="6400">
                <a:solidFill>
                  <a:srgbClr val="90606B"/>
                </a:solidFill>
                <a:latin typeface="Carelia"/>
                <a:ea typeface="Carelia"/>
                <a:cs typeface="Carelia"/>
                <a:sym typeface="Carelia"/>
              </a:rPr>
              <a:t>Hasil Uji Wajib</a:t>
            </a:r>
          </a:p>
        </p:txBody>
      </p:sp>
      <p:sp>
        <p:nvSpPr>
          <p:cNvPr name="TextBox 9" id="9"/>
          <p:cNvSpPr txBox="true"/>
          <p:nvPr/>
        </p:nvSpPr>
        <p:spPr>
          <a:xfrm rot="0">
            <a:off x="1375547" y="1444634"/>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9. Query: Apakah butuh pengawas pengganti?</a:t>
            </a:r>
          </a:p>
        </p:txBody>
      </p:sp>
      <p:sp>
        <p:nvSpPr>
          <p:cNvPr name="TextBox 10" id="10"/>
          <p:cNvSpPr txBox="true"/>
          <p:nvPr/>
        </p:nvSpPr>
        <p:spPr>
          <a:xfrm rot="0">
            <a:off x="1375547" y="5868331"/>
            <a:ext cx="11686690" cy="5143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10. Query Kustom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803941"/>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935753" y="1962816"/>
            <a:ext cx="13480951" cy="69151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Bold"/>
                <a:ea typeface="Muli Bold"/>
                <a:cs typeface="Muli Bold"/>
                <a:sym typeface="Muli Bold"/>
              </a:rPr>
              <a:t>Fallacy yang berhasil disanggah oleh Knowledge Base (KB) ini adalah hasty generalization (generalisasi keliru), yaitu anggapan bahwa semua kelas yang berlangsung pada waktu yang sama pasti bermasalah dan harus dijadwalkan ulang.</a:t>
            </a:r>
          </a:p>
          <a:p>
            <a:pPr algn="l">
              <a:lnSpc>
                <a:spcPts val="4200"/>
              </a:lnSpc>
            </a:pPr>
          </a:p>
          <a:p>
            <a:pPr algn="l">
              <a:lnSpc>
                <a:spcPts val="4200"/>
              </a:lnSpc>
            </a:pPr>
            <a:r>
              <a:rPr lang="en-US" sz="3000" b="true">
                <a:solidFill>
                  <a:srgbClr val="90606B"/>
                </a:solidFill>
                <a:latin typeface="Muli Bold"/>
                <a:ea typeface="Muli Bold"/>
                <a:cs typeface="Muli Bold"/>
                <a:sym typeface="Muli Bold"/>
              </a:rPr>
              <a:t>Hasil inferensi menunjukkan bahwa meskipun terdapat bentrok ruangan antara kelasA dan kelasB pada jam_9, tidak semua kelas otomatis dikategorikan bermasalah. KB hanya menetapkan suatu kelas bermasalah jika memenuhi kondisi logis tertentu melal</a:t>
            </a:r>
            <a:r>
              <a:rPr lang="en-US" sz="3000" b="true">
                <a:solidFill>
                  <a:srgbClr val="90606B"/>
                </a:solidFill>
                <a:latin typeface="Muli Bold"/>
                <a:ea typeface="Muli Bold"/>
                <a:cs typeface="Muli Bold"/>
                <a:sym typeface="Muli Bold"/>
              </a:rPr>
              <a:t>ui rantai inferensi, seperti adanya bentrok nyata atau penggunaan ruangan yang tidak valid serta kebutuhan ruang kelas tersebut. Dengan demikian, KB menolak kesimpulan instan berbasis satu indikator dan memastikan keputusan penjadwalan ulang diambil secara logis, selektif, dan terstruktur.</a:t>
            </a:r>
          </a:p>
        </p:txBody>
      </p:sp>
      <p:sp>
        <p:nvSpPr>
          <p:cNvPr name="Freeform 6" id="6"/>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935753" y="642016"/>
            <a:ext cx="9355084" cy="1377949"/>
          </a:xfrm>
          <a:prstGeom prst="rect">
            <a:avLst/>
          </a:prstGeom>
        </p:spPr>
        <p:txBody>
          <a:bodyPr anchor="t" rtlCol="false" tIns="0" lIns="0" bIns="0" rIns="0">
            <a:spAutoFit/>
          </a:bodyPr>
          <a:lstStyle/>
          <a:p>
            <a:pPr algn="l">
              <a:lnSpc>
                <a:spcPts val="11200"/>
              </a:lnSpc>
            </a:pPr>
            <a:r>
              <a:rPr lang="en-US" sz="8000">
                <a:solidFill>
                  <a:srgbClr val="90606B"/>
                </a:solidFill>
                <a:latin typeface="Carelia"/>
                <a:ea typeface="Carelia"/>
                <a:cs typeface="Carelia"/>
                <a:sym typeface="Carelia"/>
              </a:rPr>
              <a:t>Analisis Validitas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true" flipV="true" rot="0">
            <a:off x="12086014" y="0"/>
            <a:ext cx="6201986" cy="5925481"/>
          </a:xfrm>
          <a:custGeom>
            <a:avLst/>
            <a:gdLst/>
            <a:ahLst/>
            <a:cxnLst/>
            <a:rect r="r" b="b" t="t" l="l"/>
            <a:pathLst>
              <a:path h="5925481" w="6201986">
                <a:moveTo>
                  <a:pt x="6201986" y="5925481"/>
                </a:moveTo>
                <a:lnTo>
                  <a:pt x="0" y="5925481"/>
                </a:lnTo>
                <a:lnTo>
                  <a:pt x="0" y="0"/>
                </a:lnTo>
                <a:lnTo>
                  <a:pt x="6201986" y="0"/>
                </a:lnTo>
                <a:lnTo>
                  <a:pt x="6201986" y="5925481"/>
                </a:lnTo>
                <a:close/>
              </a:path>
            </a:pathLst>
          </a:custGeom>
          <a:blipFill>
            <a:blip r:embed="rId2"/>
            <a:stretch>
              <a:fillRect l="0" t="0" r="0" b="0"/>
            </a:stretch>
          </a:blipFill>
        </p:spPr>
      </p:sp>
      <p:sp>
        <p:nvSpPr>
          <p:cNvPr name="Freeform 3" id="3"/>
          <p:cNvSpPr/>
          <p:nvPr/>
        </p:nvSpPr>
        <p:spPr>
          <a:xfrm flipH="false" flipV="false" rot="0">
            <a:off x="552507"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744950" y="8734425"/>
            <a:ext cx="1028700" cy="1047750"/>
          </a:xfrm>
          <a:custGeom>
            <a:avLst/>
            <a:gdLst/>
            <a:ahLst/>
            <a:cxnLst/>
            <a:rect r="r" b="b" t="t" l="l"/>
            <a:pathLst>
              <a:path h="1047750" w="1028700">
                <a:moveTo>
                  <a:pt x="1028700" y="0"/>
                </a:moveTo>
                <a:lnTo>
                  <a:pt x="0" y="0"/>
                </a:lnTo>
                <a:lnTo>
                  <a:pt x="0" y="1047750"/>
                </a:lnTo>
                <a:lnTo>
                  <a:pt x="1028700" y="1047750"/>
                </a:lnTo>
                <a:lnTo>
                  <a:pt x="10287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960705">
            <a:off x="-1436616" y="7724775"/>
            <a:ext cx="5006947" cy="4114800"/>
          </a:xfrm>
          <a:custGeom>
            <a:avLst/>
            <a:gdLst/>
            <a:ahLst/>
            <a:cxnLst/>
            <a:rect r="r" b="b" t="t" l="l"/>
            <a:pathLst>
              <a:path h="4114800" w="5006947">
                <a:moveTo>
                  <a:pt x="0" y="0"/>
                </a:moveTo>
                <a:lnTo>
                  <a:pt x="5006947" y="0"/>
                </a:lnTo>
                <a:lnTo>
                  <a:pt x="500694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935753" y="3207698"/>
            <a:ext cx="661274" cy="878504"/>
          </a:xfrm>
          <a:custGeom>
            <a:avLst/>
            <a:gdLst/>
            <a:ahLst/>
            <a:cxnLst/>
            <a:rect r="r" b="b" t="t" l="l"/>
            <a:pathLst>
              <a:path h="878504" w="661274">
                <a:moveTo>
                  <a:pt x="0" y="0"/>
                </a:moveTo>
                <a:lnTo>
                  <a:pt x="661274" y="0"/>
                </a:lnTo>
                <a:lnTo>
                  <a:pt x="661274" y="878504"/>
                </a:lnTo>
                <a:lnTo>
                  <a:pt x="0" y="8785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822185" y="2968697"/>
            <a:ext cx="12643629" cy="15811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Semi-Bold"/>
                <a:ea typeface="Muli Semi-Bold"/>
                <a:cs typeface="Muli Semi-Bold"/>
                <a:sym typeface="Muli Semi-Bold"/>
              </a:rPr>
              <a:t>kelas yang terdeteksi mengalami bentrok ruangan dan berujung pada status perlu_penjadwalan_ulang sebaiknya langsung diproses oleh sistem penjadwalan ulang otomatis</a:t>
            </a:r>
          </a:p>
        </p:txBody>
      </p:sp>
      <p:sp>
        <p:nvSpPr>
          <p:cNvPr name="TextBox 8" id="8"/>
          <p:cNvSpPr txBox="true"/>
          <p:nvPr/>
        </p:nvSpPr>
        <p:spPr>
          <a:xfrm rot="0">
            <a:off x="2309130" y="178546"/>
            <a:ext cx="8861411" cy="2210002"/>
          </a:xfrm>
          <a:prstGeom prst="rect">
            <a:avLst/>
          </a:prstGeom>
        </p:spPr>
        <p:txBody>
          <a:bodyPr anchor="t" rtlCol="false" tIns="0" lIns="0" bIns="0" rIns="0">
            <a:spAutoFit/>
          </a:bodyPr>
          <a:lstStyle/>
          <a:p>
            <a:pPr algn="l">
              <a:lnSpc>
                <a:spcPts val="8825"/>
              </a:lnSpc>
            </a:pPr>
            <a:r>
              <a:rPr lang="en-US" sz="6304">
                <a:solidFill>
                  <a:srgbClr val="90606B"/>
                </a:solidFill>
                <a:latin typeface="Carelia"/>
                <a:ea typeface="Carelia"/>
                <a:cs typeface="Carelia"/>
                <a:sym typeface="Carelia"/>
              </a:rPr>
              <a:t>Kesimpulan dan Rekomendasi</a:t>
            </a:r>
          </a:p>
        </p:txBody>
      </p:sp>
      <p:sp>
        <p:nvSpPr>
          <p:cNvPr name="TextBox 9" id="9"/>
          <p:cNvSpPr txBox="true"/>
          <p:nvPr/>
        </p:nvSpPr>
        <p:spPr>
          <a:xfrm rot="0">
            <a:off x="2779445" y="5302322"/>
            <a:ext cx="12643629" cy="10477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Semi-Bold"/>
                <a:ea typeface="Muli Semi-Bold"/>
                <a:cs typeface="Muli Semi-Bold"/>
                <a:sym typeface="Muli Semi-Bold"/>
              </a:rPr>
              <a:t>setiap penjadwalan ujian perlu melewati tahap validasi ruang untuk memastikan ruang yang dipilih benar-benar tersedia</a:t>
            </a:r>
          </a:p>
        </p:txBody>
      </p:sp>
      <p:sp>
        <p:nvSpPr>
          <p:cNvPr name="TextBox 10" id="10"/>
          <p:cNvSpPr txBox="true"/>
          <p:nvPr/>
        </p:nvSpPr>
        <p:spPr>
          <a:xfrm rot="0">
            <a:off x="2736705" y="7102547"/>
            <a:ext cx="12643629" cy="1047750"/>
          </a:xfrm>
          <a:prstGeom prst="rect">
            <a:avLst/>
          </a:prstGeom>
        </p:spPr>
        <p:txBody>
          <a:bodyPr anchor="t" rtlCol="false" tIns="0" lIns="0" bIns="0" rIns="0">
            <a:spAutoFit/>
          </a:bodyPr>
          <a:lstStyle/>
          <a:p>
            <a:pPr algn="l">
              <a:lnSpc>
                <a:spcPts val="4200"/>
              </a:lnSpc>
            </a:pPr>
            <a:r>
              <a:rPr lang="en-US" sz="3000" b="true">
                <a:solidFill>
                  <a:srgbClr val="90606B"/>
                </a:solidFill>
                <a:latin typeface="Muli Semi-Bold"/>
                <a:ea typeface="Muli Semi-Bold"/>
                <a:cs typeface="Muli Semi-Bold"/>
                <a:sym typeface="Muli Semi-Bold"/>
              </a:rPr>
              <a:t>setiap penjadwalan ujian perlu melewati tahap validasi ruang untuk memastikan ruang yang dipilih benar-benar tersedia</a:t>
            </a:r>
          </a:p>
        </p:txBody>
      </p:sp>
      <p:sp>
        <p:nvSpPr>
          <p:cNvPr name="TextBox 11" id="11"/>
          <p:cNvSpPr txBox="true"/>
          <p:nvPr/>
        </p:nvSpPr>
        <p:spPr>
          <a:xfrm rot="0">
            <a:off x="1978493" y="3327241"/>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1</a:t>
            </a:r>
          </a:p>
        </p:txBody>
      </p:sp>
      <p:sp>
        <p:nvSpPr>
          <p:cNvPr name="Freeform 12" id="12"/>
          <p:cNvSpPr/>
          <p:nvPr/>
        </p:nvSpPr>
        <p:spPr>
          <a:xfrm flipH="false" flipV="false" rot="0">
            <a:off x="1935753" y="5359472"/>
            <a:ext cx="661274" cy="878504"/>
          </a:xfrm>
          <a:custGeom>
            <a:avLst/>
            <a:gdLst/>
            <a:ahLst/>
            <a:cxnLst/>
            <a:rect r="r" b="b" t="t" l="l"/>
            <a:pathLst>
              <a:path h="878504" w="661274">
                <a:moveTo>
                  <a:pt x="0" y="0"/>
                </a:moveTo>
                <a:lnTo>
                  <a:pt x="661274" y="0"/>
                </a:lnTo>
                <a:lnTo>
                  <a:pt x="661274" y="878504"/>
                </a:lnTo>
                <a:lnTo>
                  <a:pt x="0" y="8785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935753" y="7159697"/>
            <a:ext cx="661274" cy="878504"/>
          </a:xfrm>
          <a:custGeom>
            <a:avLst/>
            <a:gdLst/>
            <a:ahLst/>
            <a:cxnLst/>
            <a:rect r="r" b="b" t="t" l="l"/>
            <a:pathLst>
              <a:path h="878504" w="661274">
                <a:moveTo>
                  <a:pt x="0" y="0"/>
                </a:moveTo>
                <a:lnTo>
                  <a:pt x="661274" y="0"/>
                </a:lnTo>
                <a:lnTo>
                  <a:pt x="661274" y="878504"/>
                </a:lnTo>
                <a:lnTo>
                  <a:pt x="0" y="8785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978493" y="5479015"/>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2</a:t>
            </a:r>
          </a:p>
        </p:txBody>
      </p:sp>
      <p:sp>
        <p:nvSpPr>
          <p:cNvPr name="TextBox 15" id="15"/>
          <p:cNvSpPr txBox="true"/>
          <p:nvPr/>
        </p:nvSpPr>
        <p:spPr>
          <a:xfrm rot="0">
            <a:off x="1978493" y="7279240"/>
            <a:ext cx="575794" cy="572742"/>
          </a:xfrm>
          <a:prstGeom prst="rect">
            <a:avLst/>
          </a:prstGeom>
        </p:spPr>
        <p:txBody>
          <a:bodyPr anchor="t" rtlCol="false" tIns="0" lIns="0" bIns="0" rIns="0">
            <a:spAutoFit/>
          </a:bodyPr>
          <a:lstStyle/>
          <a:p>
            <a:pPr algn="ctr">
              <a:lnSpc>
                <a:spcPts val="4656"/>
              </a:lnSpc>
            </a:pPr>
            <a:r>
              <a:rPr lang="en-US" sz="3326">
                <a:solidFill>
                  <a:srgbClr val="90606B"/>
                </a:solidFill>
                <a:latin typeface="Carelia"/>
                <a:ea typeface="Carelia"/>
                <a:cs typeface="Carelia"/>
                <a:sym typeface="Carelia"/>
              </a:rPr>
              <a:t>3</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1EA"/>
        </a:solidFill>
      </p:bgPr>
    </p:bg>
    <p:spTree>
      <p:nvGrpSpPr>
        <p:cNvPr id="1" name=""/>
        <p:cNvGrpSpPr/>
        <p:nvPr/>
      </p:nvGrpSpPr>
      <p:grpSpPr>
        <a:xfrm>
          <a:off x="0" y="0"/>
          <a:ext cx="0" cy="0"/>
          <a:chOff x="0" y="0"/>
          <a:chExt cx="0" cy="0"/>
        </a:xfrm>
      </p:grpSpPr>
      <p:sp>
        <p:nvSpPr>
          <p:cNvPr name="Freeform 2" id="2"/>
          <p:cNvSpPr/>
          <p:nvPr/>
        </p:nvSpPr>
        <p:spPr>
          <a:xfrm flipH="false" flipV="true" rot="0">
            <a:off x="-2926850" y="0"/>
            <a:ext cx="10721300" cy="11912555"/>
          </a:xfrm>
          <a:custGeom>
            <a:avLst/>
            <a:gdLst/>
            <a:ahLst/>
            <a:cxnLst/>
            <a:rect r="r" b="b" t="t" l="l"/>
            <a:pathLst>
              <a:path h="11912555" w="10721300">
                <a:moveTo>
                  <a:pt x="0" y="11912555"/>
                </a:moveTo>
                <a:lnTo>
                  <a:pt x="10721299" y="11912555"/>
                </a:lnTo>
                <a:lnTo>
                  <a:pt x="10721299" y="0"/>
                </a:lnTo>
                <a:lnTo>
                  <a:pt x="0" y="0"/>
                </a:lnTo>
                <a:lnTo>
                  <a:pt x="0" y="11912555"/>
                </a:lnTo>
                <a:close/>
              </a:path>
            </a:pathLst>
          </a:custGeom>
          <a:blipFill>
            <a:blip r:embed="rId2"/>
            <a:stretch>
              <a:fillRect l="0" t="0" r="0" b="0"/>
            </a:stretch>
          </a:blipFill>
        </p:spPr>
      </p:sp>
      <p:sp>
        <p:nvSpPr>
          <p:cNvPr name="Freeform 3" id="3"/>
          <p:cNvSpPr/>
          <p:nvPr/>
        </p:nvSpPr>
        <p:spPr>
          <a:xfrm flipH="true" flipV="false" rot="0">
            <a:off x="13709598" y="3653953"/>
            <a:ext cx="5969742" cy="6633047"/>
          </a:xfrm>
          <a:custGeom>
            <a:avLst/>
            <a:gdLst/>
            <a:ahLst/>
            <a:cxnLst/>
            <a:rect r="r" b="b" t="t" l="l"/>
            <a:pathLst>
              <a:path h="6633047" w="5969742">
                <a:moveTo>
                  <a:pt x="5969743" y="0"/>
                </a:moveTo>
                <a:lnTo>
                  <a:pt x="0" y="0"/>
                </a:lnTo>
                <a:lnTo>
                  <a:pt x="0" y="6633047"/>
                </a:lnTo>
                <a:lnTo>
                  <a:pt x="5969743" y="6633047"/>
                </a:lnTo>
                <a:lnTo>
                  <a:pt x="5969743" y="0"/>
                </a:lnTo>
                <a:close/>
              </a:path>
            </a:pathLst>
          </a:custGeom>
          <a:blipFill>
            <a:blip r:embed="rId2"/>
            <a:stretch>
              <a:fillRect l="0" t="0" r="0" b="0"/>
            </a:stretch>
          </a:blipFill>
        </p:spPr>
      </p:sp>
      <p:sp>
        <p:nvSpPr>
          <p:cNvPr name="Freeform 4" id="4"/>
          <p:cNvSpPr/>
          <p:nvPr/>
        </p:nvSpPr>
        <p:spPr>
          <a:xfrm flipH="false" flipV="false" rot="0">
            <a:off x="16694469" y="504825"/>
            <a:ext cx="1028700" cy="1047750"/>
          </a:xfrm>
          <a:custGeom>
            <a:avLst/>
            <a:gdLst/>
            <a:ahLst/>
            <a:cxnLst/>
            <a:rect r="r" b="b" t="t" l="l"/>
            <a:pathLst>
              <a:path h="1047750" w="1028700">
                <a:moveTo>
                  <a:pt x="0" y="0"/>
                </a:moveTo>
                <a:lnTo>
                  <a:pt x="1028700" y="0"/>
                </a:lnTo>
                <a:lnTo>
                  <a:pt x="1028700" y="1047750"/>
                </a:lnTo>
                <a:lnTo>
                  <a:pt x="0" y="1047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948962" y="3874770"/>
            <a:ext cx="10231768" cy="1734184"/>
          </a:xfrm>
          <a:prstGeom prst="rect">
            <a:avLst/>
          </a:prstGeom>
        </p:spPr>
        <p:txBody>
          <a:bodyPr anchor="t" rtlCol="false" tIns="0" lIns="0" bIns="0" rIns="0">
            <a:spAutoFit/>
          </a:bodyPr>
          <a:lstStyle/>
          <a:p>
            <a:pPr algn="ctr">
              <a:lnSpc>
                <a:spcPts val="14140"/>
              </a:lnSpc>
            </a:pPr>
            <a:r>
              <a:rPr lang="en-US" sz="10100">
                <a:solidFill>
                  <a:srgbClr val="90606B"/>
                </a:solidFill>
                <a:latin typeface="Carelia"/>
                <a:ea typeface="Carelia"/>
                <a:cs typeface="Carelia"/>
                <a:sym typeface="Carelia"/>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DAG7uivwVvY</dc:identifier>
  <dcterms:modified xsi:type="dcterms:W3CDTF">2011-08-01T06:04:30Z</dcterms:modified>
  <cp:revision>1</cp:revision>
  <dc:title>[MDL2025_2B_D4_2024]_EAS_032_061</dc:title>
</cp:coreProperties>
</file>